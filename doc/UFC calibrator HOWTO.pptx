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6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43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6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1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3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77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5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6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2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2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4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70693-3ED1-4F7F-B625-55FF93824391}" type="datetimeFigureOut">
              <a:rPr lang="en-US" smtClean="0"/>
              <a:t>7/17/2017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F29BD-843B-4241-9051-B1E3435D58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5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/>
          <a:lstStyle/>
          <a:p>
            <a:r>
              <a:rPr lang="en-US" dirty="0" smtClean="0"/>
              <a:t>The maintenance of the camera calibration is supposed to be simple</a:t>
            </a:r>
          </a:p>
          <a:p>
            <a:pPr lvl="1"/>
            <a:r>
              <a:rPr lang="en-US" dirty="0" smtClean="0"/>
              <a:t>The camera position doesn’t change during the season, so there’s no need to start from scratch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9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Select the first pitch</a:t>
            </a:r>
          </a:p>
          <a:p>
            <a:r>
              <a:rPr lang="en-US" dirty="0" smtClean="0"/>
              <a:t>Select the “Camera” tab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850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On the “Operation settings” box</a:t>
            </a:r>
          </a:p>
          <a:p>
            <a:pPr lvl="1"/>
            <a:r>
              <a:rPr lang="en-US" dirty="0" smtClean="0"/>
              <a:t>Set the “Number of iterations” spin box to 64</a:t>
            </a:r>
            <a:endParaRPr lang="en-US" dirty="0"/>
          </a:p>
        </p:txBody>
      </p:sp>
      <p:sp>
        <p:nvSpPr>
          <p:cNvPr id="5" name="Elipse 4"/>
          <p:cNvSpPr/>
          <p:nvPr/>
        </p:nvSpPr>
        <p:spPr>
          <a:xfrm>
            <a:off x="2339752" y="5589240"/>
            <a:ext cx="1584176" cy="28803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5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On the “Iteration settings” box</a:t>
            </a:r>
          </a:p>
          <a:p>
            <a:pPr lvl="1"/>
            <a:r>
              <a:rPr lang="en-US" dirty="0" smtClean="0"/>
              <a:t>Set the “Presets” combo to “User-defined”</a:t>
            </a:r>
          </a:p>
          <a:p>
            <a:pPr lvl="1"/>
            <a:r>
              <a:rPr lang="en-US" dirty="0" smtClean="0"/>
              <a:t>Set the “Optical center step” to 0 (zero)</a:t>
            </a:r>
            <a:endParaRPr lang="en-US" dirty="0"/>
          </a:p>
        </p:txBody>
      </p:sp>
      <p:sp>
        <p:nvSpPr>
          <p:cNvPr id="5" name="Elipse 4"/>
          <p:cNvSpPr/>
          <p:nvPr/>
        </p:nvSpPr>
        <p:spPr>
          <a:xfrm>
            <a:off x="3563888" y="6237312"/>
            <a:ext cx="1728192" cy="28803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/>
          <p:cNvSpPr/>
          <p:nvPr/>
        </p:nvSpPr>
        <p:spPr>
          <a:xfrm>
            <a:off x="3563888" y="5445224"/>
            <a:ext cx="1728192" cy="36004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6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Markers </a:t>
            </a:r>
          </a:p>
          <a:p>
            <a:pPr lvl="1"/>
            <a:r>
              <a:rPr lang="en-US" dirty="0" smtClean="0"/>
              <a:t>Move the “Foul (1st)” marker to the top of the foul line</a:t>
            </a:r>
            <a:endParaRPr lang="en-US" dirty="0"/>
          </a:p>
        </p:txBody>
      </p:sp>
      <p:sp>
        <p:nvSpPr>
          <p:cNvPr id="6" name="Elipse 5"/>
          <p:cNvSpPr/>
          <p:nvPr/>
        </p:nvSpPr>
        <p:spPr>
          <a:xfrm>
            <a:off x="2699792" y="2996952"/>
            <a:ext cx="1008112" cy="11521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66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Markers </a:t>
            </a:r>
          </a:p>
          <a:p>
            <a:pPr lvl="1"/>
            <a:r>
              <a:rPr lang="en-US" dirty="0" smtClean="0"/>
              <a:t>Move the “Foul (3rd)” marker to the top of the foul line</a:t>
            </a:r>
            <a:endParaRPr lang="en-US" dirty="0"/>
          </a:p>
        </p:txBody>
      </p:sp>
      <p:sp>
        <p:nvSpPr>
          <p:cNvPr id="6" name="Elipse 5"/>
          <p:cNvSpPr/>
          <p:nvPr/>
        </p:nvSpPr>
        <p:spPr>
          <a:xfrm>
            <a:off x="7956376" y="2996952"/>
            <a:ext cx="936104" cy="11521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83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Markers </a:t>
            </a:r>
          </a:p>
          <a:p>
            <a:pPr lvl="1"/>
            <a:r>
              <a:rPr lang="en-US" dirty="0" smtClean="0"/>
              <a:t>Move the “Home” marker to the tip of the home plate</a:t>
            </a:r>
            <a:endParaRPr lang="en-US" dirty="0"/>
          </a:p>
        </p:txBody>
      </p:sp>
      <p:sp>
        <p:nvSpPr>
          <p:cNvPr id="6" name="Elipse 5"/>
          <p:cNvSpPr/>
          <p:nvPr/>
        </p:nvSpPr>
        <p:spPr>
          <a:xfrm>
            <a:off x="6084168" y="3140968"/>
            <a:ext cx="648072" cy="64807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5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Markers </a:t>
            </a:r>
          </a:p>
          <a:p>
            <a:pPr lvl="1"/>
            <a:r>
              <a:rPr lang="en-US" dirty="0" smtClean="0"/>
              <a:t>Move the “2nd” marker to the center of the base (the lower part)</a:t>
            </a:r>
            <a:endParaRPr lang="en-US" dirty="0"/>
          </a:p>
        </p:txBody>
      </p:sp>
      <p:sp>
        <p:nvSpPr>
          <p:cNvPr id="6" name="Elipse 5"/>
          <p:cNvSpPr/>
          <p:nvPr/>
        </p:nvSpPr>
        <p:spPr>
          <a:xfrm>
            <a:off x="4139952" y="4365104"/>
            <a:ext cx="648072" cy="64807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3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Markers </a:t>
            </a:r>
          </a:p>
          <a:p>
            <a:pPr lvl="1"/>
            <a:r>
              <a:rPr lang="en-US" dirty="0" smtClean="0"/>
              <a:t>Move the active pitching mound markers to the edges of the pitching mound</a:t>
            </a:r>
            <a:endParaRPr lang="en-US" dirty="0"/>
          </a:p>
        </p:txBody>
      </p:sp>
      <p:sp>
        <p:nvSpPr>
          <p:cNvPr id="6" name="Elipse 5"/>
          <p:cNvSpPr/>
          <p:nvPr/>
        </p:nvSpPr>
        <p:spPr>
          <a:xfrm>
            <a:off x="3309240" y="3429000"/>
            <a:ext cx="4647136" cy="11521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6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Markers </a:t>
            </a:r>
          </a:p>
          <a:p>
            <a:pPr lvl="1"/>
            <a:r>
              <a:rPr lang="en-US" dirty="0" smtClean="0"/>
              <a:t>Play the video until the moment the pitcher releases the ball</a:t>
            </a:r>
          </a:p>
          <a:p>
            <a:pPr lvl="1"/>
            <a:r>
              <a:rPr lang="en-US" dirty="0" smtClean="0"/>
              <a:t>Set the “Release Position” marker (if active) to the ball position on the video</a:t>
            </a:r>
            <a:endParaRPr lang="en-US" dirty="0"/>
          </a:p>
        </p:txBody>
      </p:sp>
      <p:sp>
        <p:nvSpPr>
          <p:cNvPr id="6" name="Elipse 5"/>
          <p:cNvSpPr/>
          <p:nvPr/>
        </p:nvSpPr>
        <p:spPr>
          <a:xfrm>
            <a:off x="5940152" y="2708920"/>
            <a:ext cx="576064" cy="72008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ector de seta reta 6"/>
          <p:cNvCxnSpPr/>
          <p:nvPr/>
        </p:nvCxnSpPr>
        <p:spPr>
          <a:xfrm flipH="1">
            <a:off x="7092280" y="4509120"/>
            <a:ext cx="432048" cy="504056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02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" y="1988840"/>
            <a:ext cx="8841911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5"/>
            <a:ext cx="8841911" cy="1224136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Click on “Run” until the blue lines converge to the field layout</a:t>
            </a:r>
          </a:p>
          <a:p>
            <a:pPr lvl="1"/>
            <a:r>
              <a:rPr lang="en-US" dirty="0" smtClean="0"/>
              <a:t>The algorithm is iterative, so it may take 4-6 clicks</a:t>
            </a:r>
          </a:p>
          <a:p>
            <a:pPr lvl="1"/>
            <a:r>
              <a:rPr lang="en-US" dirty="0" smtClean="0"/>
              <a:t>The terminal screen will output updates to the calibration</a:t>
            </a:r>
            <a:endParaRPr lang="en-US" dirty="0"/>
          </a:p>
        </p:txBody>
      </p:sp>
      <p:cxnSp>
        <p:nvCxnSpPr>
          <p:cNvPr id="7" name="Conector de seta reta 6"/>
          <p:cNvCxnSpPr/>
          <p:nvPr/>
        </p:nvCxnSpPr>
        <p:spPr>
          <a:xfrm flipH="1">
            <a:off x="3563888" y="5877272"/>
            <a:ext cx="432048" cy="504056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420888"/>
            <a:ext cx="3042645" cy="2992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de seta reta 7"/>
          <p:cNvCxnSpPr/>
          <p:nvPr/>
        </p:nvCxnSpPr>
        <p:spPr>
          <a:xfrm flipH="1">
            <a:off x="2267744" y="3140968"/>
            <a:ext cx="432048" cy="504056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583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4"/>
            <a:ext cx="8841911" cy="59046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Once the blue lines are close to the field layout, go back to the “Strike zone” tab</a:t>
            </a:r>
          </a:p>
          <a:p>
            <a:pPr lvl="1"/>
            <a:r>
              <a:rPr lang="en-US" dirty="0" smtClean="0"/>
              <a:t>The “Zoomed view” will not work (or will be off-center), since it depends on a stored calibration</a:t>
            </a:r>
          </a:p>
          <a:p>
            <a:r>
              <a:rPr lang="en-US" dirty="0" smtClean="0"/>
              <a:t>Make sure the home plate matches the blue lines</a:t>
            </a:r>
          </a:p>
          <a:p>
            <a:pPr lvl="1"/>
            <a:r>
              <a:rPr lang="en-US" dirty="0" smtClean="0"/>
              <a:t>To adjust the calibration, set the calibration to “Automatic” and use the keyboard</a:t>
            </a:r>
          </a:p>
          <a:p>
            <a:r>
              <a:rPr lang="en-US" dirty="0" smtClean="0"/>
              <a:t>The calibration will be recorded when you move to the next pitch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9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806" y="3933056"/>
            <a:ext cx="2267322" cy="2547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4"/>
            <a:ext cx="8841911" cy="59046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Keep in mind:</a:t>
            </a:r>
          </a:p>
          <a:p>
            <a:pPr lvl="1"/>
            <a:r>
              <a:rPr lang="en-US" dirty="0" smtClean="0"/>
              <a:t>The calibration should be updated in the </a:t>
            </a:r>
            <a:r>
              <a:rPr lang="en-US" b="1" dirty="0" smtClean="0">
                <a:solidFill>
                  <a:srgbClr val="FF0000"/>
                </a:solidFill>
              </a:rPr>
              <a:t>first pitch</a:t>
            </a:r>
          </a:p>
          <a:p>
            <a:pPr lvl="1"/>
            <a:r>
              <a:rPr lang="en-US" dirty="0" smtClean="0"/>
              <a:t>The yellow dot that represents the camera position </a:t>
            </a:r>
            <a:r>
              <a:rPr lang="en-US" b="1" dirty="0" smtClean="0">
                <a:solidFill>
                  <a:srgbClr val="FF0000"/>
                </a:solidFill>
              </a:rPr>
              <a:t>should not move during the calibration</a:t>
            </a:r>
          </a:p>
          <a:p>
            <a:pPr lvl="2"/>
            <a:r>
              <a:rPr lang="en-US" dirty="0" smtClean="0"/>
              <a:t>Setting the “Optical center step” to 0 (zero) makes sure the camera will not move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  <p:cxnSp>
        <p:nvCxnSpPr>
          <p:cNvPr id="6" name="Conector de seta reta 5"/>
          <p:cNvCxnSpPr/>
          <p:nvPr/>
        </p:nvCxnSpPr>
        <p:spPr>
          <a:xfrm flipH="1">
            <a:off x="4644008" y="4600203"/>
            <a:ext cx="432048" cy="504056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869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136" y="3501008"/>
            <a:ext cx="479107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4"/>
            <a:ext cx="8841911" cy="59046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Keep in mind:</a:t>
            </a:r>
          </a:p>
          <a:p>
            <a:pPr lvl="1"/>
            <a:r>
              <a:rPr lang="en-US" dirty="0" smtClean="0"/>
              <a:t>You can hit the “Run” button while there are messages being printed between “START FITNESS” and “END FITNESS” on the terminal</a:t>
            </a:r>
          </a:p>
          <a:p>
            <a:pPr lvl="2"/>
            <a:r>
              <a:rPr lang="en-US" dirty="0" smtClean="0"/>
              <a:t>These messages indicate changes on the calibration</a:t>
            </a:r>
          </a:p>
          <a:p>
            <a:pPr lvl="2"/>
            <a:endParaRPr lang="en-US" dirty="0"/>
          </a:p>
        </p:txBody>
      </p:sp>
      <p:cxnSp>
        <p:nvCxnSpPr>
          <p:cNvPr id="6" name="Conector de seta reta 5"/>
          <p:cNvCxnSpPr/>
          <p:nvPr/>
        </p:nvCxnSpPr>
        <p:spPr>
          <a:xfrm flipH="1" flipV="1">
            <a:off x="5798756" y="3645024"/>
            <a:ext cx="1440162" cy="818010"/>
          </a:xfrm>
          <a:prstGeom prst="straightConnector1">
            <a:avLst/>
          </a:prstGeom>
          <a:ln w="76200" cap="rnd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 flipH="1">
            <a:off x="5652120" y="4463033"/>
            <a:ext cx="1586796" cy="766167"/>
          </a:xfrm>
          <a:prstGeom prst="straightConnector1">
            <a:avLst/>
          </a:prstGeom>
          <a:ln w="76200" cap="rnd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077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513" y="0"/>
            <a:ext cx="7263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 OF CAMERA CALIBRATION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4"/>
            <a:ext cx="8841911" cy="59046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Keep in mind:</a:t>
            </a:r>
          </a:p>
          <a:p>
            <a:pPr lvl="1"/>
            <a:r>
              <a:rPr lang="en-US" dirty="0" smtClean="0"/>
              <a:t>The assumption is that the tracking data is correct, so the calibration should be updated until the tracking data corresponds to the ball in the video</a:t>
            </a:r>
          </a:p>
          <a:p>
            <a:pPr lvl="2"/>
            <a:r>
              <a:rPr lang="en-US" dirty="0" smtClean="0"/>
              <a:t>That said, the tracking data is not always correct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695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513" y="0"/>
            <a:ext cx="36038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dirty="0" smtClean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TROUBLESHOOTING</a:t>
            </a:r>
            <a:endParaRPr lang="en-US" sz="28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Espaço Reservado para Conteúdo 4"/>
          <p:cNvSpPr txBox="1">
            <a:spLocks/>
          </p:cNvSpPr>
          <p:nvPr/>
        </p:nvSpPr>
        <p:spPr>
          <a:xfrm>
            <a:off x="156427" y="764704"/>
            <a:ext cx="8841911" cy="59046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970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491</Words>
  <Application>Microsoft Office PowerPoint</Application>
  <PresentationFormat>Apresentação na tela (4:3)</PresentationFormat>
  <Paragraphs>56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Dietrich</dc:creator>
  <cp:lastModifiedBy>Dietrich</cp:lastModifiedBy>
  <cp:revision>9</cp:revision>
  <dcterms:created xsi:type="dcterms:W3CDTF">2017-03-21T21:47:03Z</dcterms:created>
  <dcterms:modified xsi:type="dcterms:W3CDTF">2017-07-17T14:20:48Z</dcterms:modified>
</cp:coreProperties>
</file>
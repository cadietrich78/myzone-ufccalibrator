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62" r:id="rId3"/>
    <p:sldId id="357" r:id="rId4"/>
    <p:sldId id="359" r:id="rId5"/>
    <p:sldId id="293" r:id="rId6"/>
    <p:sldId id="356" r:id="rId7"/>
    <p:sldId id="358" r:id="rId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FF00"/>
    <a:srgbClr val="FFFFCC"/>
    <a:srgbClr val="B7D2D5"/>
    <a:srgbClr val="008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7" autoAdjust="0"/>
    <p:restoredTop sz="94660"/>
  </p:normalViewPr>
  <p:slideViewPr>
    <p:cSldViewPr>
      <p:cViewPr varScale="1">
        <p:scale>
          <a:sx n="108" d="100"/>
          <a:sy n="108" d="100"/>
        </p:scale>
        <p:origin x="1980" y="10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p:cNvSpPr>
            <a:spLocks noGrp="1"/>
          </p:cNvSpPr>
          <p:nvPr>
            <p:ph type="ctrTitle"/>
          </p:nvPr>
        </p:nvSpPr>
        <p:spPr>
          <a:xfrm>
            <a:off x="685800" y="2130425"/>
            <a:ext cx="7772400" cy="1470025"/>
          </a:xfrm>
        </p:spPr>
        <p:txBody>
          <a:bodyPr/>
          <a:lstStyle/>
          <a:p>
            <a:r>
              <a:rPr lang="pt-BR"/>
              <a:t>Clique para editar o título mestre</a:t>
            </a:r>
            <a:endParaRPr lang="en-US"/>
          </a:p>
        </p:txBody>
      </p:sp>
      <p:sp>
        <p:nvSpPr>
          <p:cNvPr id="3" name="Subtítulo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pt-BR"/>
              <a:t>Clique para editar o estilo do subtítulo mestre</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12/15/2022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4199100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idx="1"/>
          </p:nvPr>
        </p:nvSpPr>
        <p:spPr/>
        <p:txBody>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12/15/2022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6717414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p:cNvSpPr>
            <a:spLocks noGrp="1"/>
          </p:cNvSpPr>
          <p:nvPr>
            <p:ph type="title"/>
          </p:nvPr>
        </p:nvSpPr>
        <p:spPr>
          <a:xfrm>
            <a:off x="722313" y="4406900"/>
            <a:ext cx="7772400" cy="1362075"/>
          </a:xfrm>
        </p:spPr>
        <p:txBody>
          <a:bodyPr anchor="t"/>
          <a:lstStyle>
            <a:lvl1pPr algn="l">
              <a:defRPr sz="4000" b="1" cap="all"/>
            </a:lvl1pPr>
          </a:lstStyle>
          <a:p>
            <a:r>
              <a:rPr lang="pt-BR"/>
              <a:t>Clique para editar o título mestre</a:t>
            </a:r>
            <a:endParaRPr lang="en-US"/>
          </a:p>
        </p:txBody>
      </p:sp>
      <p:sp>
        <p:nvSpPr>
          <p:cNvPr id="3" name="Espaço Reservado para Texto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t-BR"/>
              <a:t>Clique para editar o texto mestre</a:t>
            </a:r>
          </a:p>
        </p:txBody>
      </p:sp>
      <p:sp>
        <p:nvSpPr>
          <p:cNvPr id="4" name="Espaço Reservado para Data 3"/>
          <p:cNvSpPr>
            <a:spLocks noGrp="1"/>
          </p:cNvSpPr>
          <p:nvPr>
            <p:ph type="dt" sz="half" idx="10"/>
          </p:nvPr>
        </p:nvSpPr>
        <p:spPr/>
        <p:txBody>
          <a:bodyPr/>
          <a:lstStyle/>
          <a:p>
            <a:fld id="{A9A6E6A7-8BB5-4312-AC96-9EE02D82EB11}" type="datetimeFigureOut">
              <a:rPr lang="en-US" smtClean="0"/>
              <a:t>12/15/2022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740061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Conteúdo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Conteúdo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Data 4"/>
          <p:cNvSpPr>
            <a:spLocks noGrp="1"/>
          </p:cNvSpPr>
          <p:nvPr>
            <p:ph type="dt" sz="half" idx="10"/>
          </p:nvPr>
        </p:nvSpPr>
        <p:spPr/>
        <p:txBody>
          <a:bodyPr/>
          <a:lstStyle/>
          <a:p>
            <a:fld id="{A9A6E6A7-8BB5-4312-AC96-9EE02D82EB11}" type="datetimeFigureOut">
              <a:rPr lang="en-US" smtClean="0"/>
              <a:t>12/15/2022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16123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lvl1pPr>
              <a:defRPr/>
            </a:lvl1pPr>
          </a:lstStyle>
          <a:p>
            <a:r>
              <a:rPr lang="pt-BR"/>
              <a:t>Clique para editar o título mestre</a:t>
            </a:r>
            <a:endParaRPr lang="en-US"/>
          </a:p>
        </p:txBody>
      </p:sp>
      <p:sp>
        <p:nvSpPr>
          <p:cNvPr id="3" name="Espaço Reservado para Texto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4" name="Espaço Reservado para Conteúdo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Espaço Reservado para Texto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 texto mestre</a:t>
            </a:r>
          </a:p>
        </p:txBody>
      </p:sp>
      <p:sp>
        <p:nvSpPr>
          <p:cNvPr id="6" name="Espaço Reservado para Conteúdo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Espaço Reservado para Data 6"/>
          <p:cNvSpPr>
            <a:spLocks noGrp="1"/>
          </p:cNvSpPr>
          <p:nvPr>
            <p:ph type="dt" sz="half" idx="10"/>
          </p:nvPr>
        </p:nvSpPr>
        <p:spPr/>
        <p:txBody>
          <a:bodyPr/>
          <a:lstStyle/>
          <a:p>
            <a:fld id="{A9A6E6A7-8BB5-4312-AC96-9EE02D82EB11}" type="datetimeFigureOut">
              <a:rPr lang="en-US" smtClean="0"/>
              <a:t>12/15/2022</a:t>
            </a:fld>
            <a:endParaRPr lang="en-US"/>
          </a:p>
        </p:txBody>
      </p:sp>
      <p:sp>
        <p:nvSpPr>
          <p:cNvPr id="8" name="Espaço Reservado para Rodapé 7"/>
          <p:cNvSpPr>
            <a:spLocks noGrp="1"/>
          </p:cNvSpPr>
          <p:nvPr>
            <p:ph type="ftr" sz="quarter" idx="11"/>
          </p:nvPr>
        </p:nvSpPr>
        <p:spPr/>
        <p:txBody>
          <a:bodyPr/>
          <a:lstStyle/>
          <a:p>
            <a:endParaRPr lang="en-US"/>
          </a:p>
        </p:txBody>
      </p:sp>
      <p:sp>
        <p:nvSpPr>
          <p:cNvPr id="9" name="Espaço Reservado para Número de Slide 8"/>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679347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Data 2"/>
          <p:cNvSpPr>
            <a:spLocks noGrp="1"/>
          </p:cNvSpPr>
          <p:nvPr>
            <p:ph type="dt" sz="half" idx="10"/>
          </p:nvPr>
        </p:nvSpPr>
        <p:spPr/>
        <p:txBody>
          <a:bodyPr/>
          <a:lstStyle/>
          <a:p>
            <a:fld id="{A9A6E6A7-8BB5-4312-AC96-9EE02D82EB11}" type="datetimeFigureOut">
              <a:rPr lang="en-US" smtClean="0"/>
              <a:t>12/15/2022</a:t>
            </a:fld>
            <a:endParaRPr lang="en-US"/>
          </a:p>
        </p:txBody>
      </p:sp>
      <p:sp>
        <p:nvSpPr>
          <p:cNvPr id="4" name="Espaço Reservado para Rodapé 3"/>
          <p:cNvSpPr>
            <a:spLocks noGrp="1"/>
          </p:cNvSpPr>
          <p:nvPr>
            <p:ph type="ftr" sz="quarter" idx="11"/>
          </p:nvPr>
        </p:nvSpPr>
        <p:spPr/>
        <p:txBody>
          <a:bodyPr/>
          <a:lstStyle/>
          <a:p>
            <a:endParaRPr lang="en-US"/>
          </a:p>
        </p:txBody>
      </p:sp>
      <p:sp>
        <p:nvSpPr>
          <p:cNvPr id="5" name="Espaço Reservado para Número de Slide 4"/>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1729194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p:cNvSpPr>
            <a:spLocks noGrp="1"/>
          </p:cNvSpPr>
          <p:nvPr>
            <p:ph type="dt" sz="half" idx="10"/>
          </p:nvPr>
        </p:nvSpPr>
        <p:spPr/>
        <p:txBody>
          <a:bodyPr/>
          <a:lstStyle/>
          <a:p>
            <a:fld id="{A9A6E6A7-8BB5-4312-AC96-9EE02D82EB11}" type="datetimeFigureOut">
              <a:rPr lang="en-US" smtClean="0"/>
              <a:t>12/15/2022</a:t>
            </a:fld>
            <a:endParaRPr lang="en-US"/>
          </a:p>
        </p:txBody>
      </p:sp>
      <p:sp>
        <p:nvSpPr>
          <p:cNvPr id="3" name="Espaço Reservado para Rodapé 2"/>
          <p:cNvSpPr>
            <a:spLocks noGrp="1"/>
          </p:cNvSpPr>
          <p:nvPr>
            <p:ph type="ftr" sz="quarter" idx="11"/>
          </p:nvPr>
        </p:nvSpPr>
        <p:spPr/>
        <p:txBody>
          <a:bodyPr/>
          <a:lstStyle/>
          <a:p>
            <a:endParaRPr lang="en-US"/>
          </a:p>
        </p:txBody>
      </p:sp>
      <p:sp>
        <p:nvSpPr>
          <p:cNvPr id="4" name="Espaço Reservado para Número de Slide 3"/>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1004097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457200" y="273050"/>
            <a:ext cx="3008313" cy="1162050"/>
          </a:xfrm>
        </p:spPr>
        <p:txBody>
          <a:bodyPr anchor="b"/>
          <a:lstStyle>
            <a:lvl1pPr algn="l">
              <a:defRPr sz="2000" b="1"/>
            </a:lvl1pPr>
          </a:lstStyle>
          <a:p>
            <a:r>
              <a:rPr lang="pt-BR"/>
              <a:t>Clique para editar o título mestre</a:t>
            </a:r>
            <a:endParaRPr lang="en-US"/>
          </a:p>
        </p:txBody>
      </p:sp>
      <p:sp>
        <p:nvSpPr>
          <p:cNvPr id="3" name="Espaço Reservado para Conteúdo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Texto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12/15/2022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0723893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p:cNvSpPr>
            <a:spLocks noGrp="1"/>
          </p:cNvSpPr>
          <p:nvPr>
            <p:ph type="title"/>
          </p:nvPr>
        </p:nvSpPr>
        <p:spPr>
          <a:xfrm>
            <a:off x="1792288" y="4800600"/>
            <a:ext cx="5486400" cy="566738"/>
          </a:xfrm>
        </p:spPr>
        <p:txBody>
          <a:bodyPr anchor="b"/>
          <a:lstStyle>
            <a:lvl1pPr algn="l">
              <a:defRPr sz="2000" b="1"/>
            </a:lvl1pPr>
          </a:lstStyle>
          <a:p>
            <a:r>
              <a:rPr lang="pt-BR"/>
              <a:t>Clique para editar o título mestre</a:t>
            </a:r>
            <a:endParaRPr lang="en-US"/>
          </a:p>
        </p:txBody>
      </p:sp>
      <p:sp>
        <p:nvSpPr>
          <p:cNvPr id="3" name="Espaço Reservado para Imagem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ço Reservado para Texto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t-BR"/>
              <a:t>Clique para editar o texto mestre</a:t>
            </a:r>
          </a:p>
        </p:txBody>
      </p:sp>
      <p:sp>
        <p:nvSpPr>
          <p:cNvPr id="5" name="Espaço Reservado para Data 4"/>
          <p:cNvSpPr>
            <a:spLocks noGrp="1"/>
          </p:cNvSpPr>
          <p:nvPr>
            <p:ph type="dt" sz="half" idx="10"/>
          </p:nvPr>
        </p:nvSpPr>
        <p:spPr/>
        <p:txBody>
          <a:bodyPr/>
          <a:lstStyle/>
          <a:p>
            <a:fld id="{A9A6E6A7-8BB5-4312-AC96-9EE02D82EB11}" type="datetimeFigureOut">
              <a:rPr lang="en-US" smtClean="0"/>
              <a:t>12/15/2022</a:t>
            </a:fld>
            <a:endParaRPr lang="en-US"/>
          </a:p>
        </p:txBody>
      </p:sp>
      <p:sp>
        <p:nvSpPr>
          <p:cNvPr id="6" name="Espaço Reservado para Rodapé 5"/>
          <p:cNvSpPr>
            <a:spLocks noGrp="1"/>
          </p:cNvSpPr>
          <p:nvPr>
            <p:ph type="ftr" sz="quarter" idx="11"/>
          </p:nvPr>
        </p:nvSpPr>
        <p:spPr/>
        <p:txBody>
          <a:bodyPr/>
          <a:lstStyle/>
          <a:p>
            <a:endParaRPr lang="en-US"/>
          </a:p>
        </p:txBody>
      </p:sp>
      <p:sp>
        <p:nvSpPr>
          <p:cNvPr id="7" name="Espaço Reservado para Número de Slide 6"/>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29691033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a:t>Clique para editar o título mestre</a:t>
            </a:r>
            <a:endParaRPr lang="en-US"/>
          </a:p>
        </p:txBody>
      </p:sp>
      <p:sp>
        <p:nvSpPr>
          <p:cNvPr id="3" name="Espaço Reservado para Texto Vertical 2"/>
          <p:cNvSpPr>
            <a:spLocks noGrp="1"/>
          </p:cNvSpPr>
          <p:nvPr>
            <p:ph type="body" orient="vert" idx="1"/>
          </p:nvPr>
        </p:nvSpPr>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12/15/2022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3513357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e texto verticais">
    <p:spTree>
      <p:nvGrpSpPr>
        <p:cNvPr id="1" name=""/>
        <p:cNvGrpSpPr/>
        <p:nvPr/>
      </p:nvGrpSpPr>
      <p:grpSpPr>
        <a:xfrm>
          <a:off x="0" y="0"/>
          <a:ext cx="0" cy="0"/>
          <a:chOff x="0" y="0"/>
          <a:chExt cx="0" cy="0"/>
        </a:xfrm>
      </p:grpSpPr>
      <p:sp>
        <p:nvSpPr>
          <p:cNvPr id="2" name="Título Vertical 1"/>
          <p:cNvSpPr>
            <a:spLocks noGrp="1"/>
          </p:cNvSpPr>
          <p:nvPr>
            <p:ph type="title" orient="vert"/>
          </p:nvPr>
        </p:nvSpPr>
        <p:spPr>
          <a:xfrm>
            <a:off x="6629400" y="274638"/>
            <a:ext cx="2057400" cy="5851525"/>
          </a:xfrm>
        </p:spPr>
        <p:txBody>
          <a:bodyPr vert="eaVert"/>
          <a:lstStyle/>
          <a:p>
            <a:r>
              <a:rPr lang="pt-BR"/>
              <a:t>Clique para editar o título mestre</a:t>
            </a:r>
            <a:endParaRPr lang="en-US"/>
          </a:p>
        </p:txBody>
      </p:sp>
      <p:sp>
        <p:nvSpPr>
          <p:cNvPr id="3" name="Espaço Reservado para Texto Vertical 2"/>
          <p:cNvSpPr>
            <a:spLocks noGrp="1"/>
          </p:cNvSpPr>
          <p:nvPr>
            <p:ph type="body" orient="vert" idx="1"/>
          </p:nvPr>
        </p:nvSpPr>
        <p:spPr>
          <a:xfrm>
            <a:off x="457200" y="274638"/>
            <a:ext cx="6019800" cy="5851525"/>
          </a:xfrm>
        </p:spPr>
        <p:txBody>
          <a:bodyPr vert="eaVert"/>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10"/>
          </p:nvPr>
        </p:nvSpPr>
        <p:spPr/>
        <p:txBody>
          <a:bodyPr/>
          <a:lstStyle/>
          <a:p>
            <a:fld id="{A9A6E6A7-8BB5-4312-AC96-9EE02D82EB11}" type="datetimeFigureOut">
              <a:rPr lang="en-US" smtClean="0"/>
              <a:t>12/15/2022</a:t>
            </a:fld>
            <a:endParaRPr lang="en-US"/>
          </a:p>
        </p:txBody>
      </p:sp>
      <p:sp>
        <p:nvSpPr>
          <p:cNvPr id="5" name="Espaço Reservado para Rodapé 4"/>
          <p:cNvSpPr>
            <a:spLocks noGrp="1"/>
          </p:cNvSpPr>
          <p:nvPr>
            <p:ph type="ftr" sz="quarter" idx="11"/>
          </p:nvPr>
        </p:nvSpPr>
        <p:spPr/>
        <p:txBody>
          <a:bodyPr/>
          <a:lstStyle/>
          <a:p>
            <a:endParaRPr lang="en-US"/>
          </a:p>
        </p:txBody>
      </p:sp>
      <p:sp>
        <p:nvSpPr>
          <p:cNvPr id="6" name="Espaço Reservado para Número de Slide 5"/>
          <p:cNvSpPr>
            <a:spLocks noGrp="1"/>
          </p:cNvSpPr>
          <p:nvPr>
            <p:ph type="sldNum" sz="quarter" idx="12"/>
          </p:nvPr>
        </p:nvSpPr>
        <p:spPr/>
        <p:txBody>
          <a:bodyPr/>
          <a:lstStyle/>
          <a:p>
            <a:fld id="{22BD0E50-01B7-4B89-A980-51F9A64FACB1}" type="slidenum">
              <a:rPr lang="en-US" smtClean="0"/>
              <a:t>‹#›</a:t>
            </a:fld>
            <a:endParaRPr lang="en-US"/>
          </a:p>
        </p:txBody>
      </p:sp>
    </p:spTree>
    <p:extLst>
      <p:ext uri="{BB962C8B-B14F-4D97-AF65-F5344CB8AC3E}">
        <p14:creationId xmlns:p14="http://schemas.microsoft.com/office/powerpoint/2010/main" val="8321274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Espaço Reservado para Texto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pt-BR"/>
              <a:t>Clique para editar o texto mestre</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Espaço Reservado para Data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9A6E6A7-8BB5-4312-AC96-9EE02D82EB11}" type="datetimeFigureOut">
              <a:rPr lang="en-US" smtClean="0"/>
              <a:t>12/15/2022</a:t>
            </a:fld>
            <a:endParaRPr lang="en-US"/>
          </a:p>
        </p:txBody>
      </p:sp>
      <p:sp>
        <p:nvSpPr>
          <p:cNvPr id="5" name="Espaço Reservado para Rodapé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Espaço Reservado para Número de Slide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2BD0E50-01B7-4B89-A980-51F9A64FACB1}" type="slidenum">
              <a:rPr lang="en-US" smtClean="0"/>
              <a:t>‹#›</a:t>
            </a:fld>
            <a:endParaRPr lang="en-US"/>
          </a:p>
        </p:txBody>
      </p:sp>
    </p:spTree>
    <p:extLst>
      <p:ext uri="{BB962C8B-B14F-4D97-AF65-F5344CB8AC3E}">
        <p14:creationId xmlns:p14="http://schemas.microsoft.com/office/powerpoint/2010/main" val="13329444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Octagon 49">
            <a:extLst>
              <a:ext uri="{FF2B5EF4-FFF2-40B4-BE49-F238E27FC236}">
                <a16:creationId xmlns:a16="http://schemas.microsoft.com/office/drawing/2014/main" id="{75800B2C-97FB-294C-FA64-ADC320756751}"/>
              </a:ext>
            </a:extLst>
          </p:cNvPr>
          <p:cNvSpPr/>
          <p:nvPr/>
        </p:nvSpPr>
        <p:spPr>
          <a:xfrm>
            <a:off x="5032503" y="3682288"/>
            <a:ext cx="2735354" cy="2735352"/>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9" name="Octagon 458">
            <a:extLst>
              <a:ext uri="{FF2B5EF4-FFF2-40B4-BE49-F238E27FC236}">
                <a16:creationId xmlns:a16="http://schemas.microsoft.com/office/drawing/2014/main" id="{7C7EF32C-65AF-2766-93F9-E4EA469056C2}"/>
              </a:ext>
            </a:extLst>
          </p:cNvPr>
          <p:cNvSpPr/>
          <p:nvPr/>
        </p:nvSpPr>
        <p:spPr>
          <a:xfrm>
            <a:off x="5233085" y="3882870"/>
            <a:ext cx="2334191" cy="2334189"/>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ctagon 3">
            <a:extLst>
              <a:ext uri="{FF2B5EF4-FFF2-40B4-BE49-F238E27FC236}">
                <a16:creationId xmlns:a16="http://schemas.microsoft.com/office/drawing/2014/main" id="{CD7CEC58-AFD3-0314-C938-DE6CABEBFE13}"/>
              </a:ext>
            </a:extLst>
          </p:cNvPr>
          <p:cNvSpPr/>
          <p:nvPr/>
        </p:nvSpPr>
        <p:spPr>
          <a:xfrm>
            <a:off x="1043608" y="332656"/>
            <a:ext cx="2668418" cy="2668416"/>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4" name="Retângulo 63"/>
          <p:cNvSpPr/>
          <p:nvPr/>
        </p:nvSpPr>
        <p:spPr>
          <a:xfrm>
            <a:off x="3032559" y="839263"/>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8" name="Picture 2" descr="Monster Energy logo Fichier transparent | PNG Play">
            <a:extLst>
              <a:ext uri="{FF2B5EF4-FFF2-40B4-BE49-F238E27FC236}">
                <a16:creationId xmlns:a16="http://schemas.microsoft.com/office/drawing/2014/main" id="{8A676E00-BE11-7A73-AD8B-4C0F5FD184A5}"/>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054111" y="1055919"/>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9" name="Retângulo 63">
            <a:extLst>
              <a:ext uri="{FF2B5EF4-FFF2-40B4-BE49-F238E27FC236}">
                <a16:creationId xmlns:a16="http://schemas.microsoft.com/office/drawing/2014/main" id="{DE853205-8AF1-4182-A3E2-5509A36A7083}"/>
              </a:ext>
            </a:extLst>
          </p:cNvPr>
          <p:cNvSpPr/>
          <p:nvPr/>
        </p:nvSpPr>
        <p:spPr>
          <a:xfrm>
            <a:off x="3032559" y="170080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0" name="Picture 2" descr="Monster Energy logo Fichier transparent | PNG Play">
            <a:extLst>
              <a:ext uri="{FF2B5EF4-FFF2-40B4-BE49-F238E27FC236}">
                <a16:creationId xmlns:a16="http://schemas.microsoft.com/office/drawing/2014/main" id="{C4B6C0A7-BE45-A2FE-7567-24FCCF56E21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054110" y="1718481"/>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11" name="Retângulo 63">
            <a:extLst>
              <a:ext uri="{FF2B5EF4-FFF2-40B4-BE49-F238E27FC236}">
                <a16:creationId xmlns:a16="http://schemas.microsoft.com/office/drawing/2014/main" id="{128D1788-207F-87C2-2CC6-7699A97BCA27}"/>
              </a:ext>
            </a:extLst>
          </p:cNvPr>
          <p:cNvSpPr/>
          <p:nvPr/>
        </p:nvSpPr>
        <p:spPr>
          <a:xfrm>
            <a:off x="930987" y="839263"/>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63">
            <a:extLst>
              <a:ext uri="{FF2B5EF4-FFF2-40B4-BE49-F238E27FC236}">
                <a16:creationId xmlns:a16="http://schemas.microsoft.com/office/drawing/2014/main" id="{436CF0DA-F8A4-328A-80A5-C822BF499663}"/>
              </a:ext>
            </a:extLst>
          </p:cNvPr>
          <p:cNvSpPr/>
          <p:nvPr/>
        </p:nvSpPr>
        <p:spPr>
          <a:xfrm>
            <a:off x="930987" y="1700808"/>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3" name="Picture 2" descr="Monster Energy logo Fichier transparent | PNG Play">
            <a:extLst>
              <a:ext uri="{FF2B5EF4-FFF2-40B4-BE49-F238E27FC236}">
                <a16:creationId xmlns:a16="http://schemas.microsoft.com/office/drawing/2014/main" id="{65F7A9B8-2DDC-7539-F1D8-852C0BEA09B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298039" y="1062036"/>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Monster Energy logo Fichier transparent | PNG Play">
            <a:extLst>
              <a:ext uri="{FF2B5EF4-FFF2-40B4-BE49-F238E27FC236}">
                <a16:creationId xmlns:a16="http://schemas.microsoft.com/office/drawing/2014/main" id="{E89B7A49-966C-B2E3-5C62-A236FAB18FC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298039" y="1718481"/>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42" name="Elipse 167">
            <a:extLst>
              <a:ext uri="{FF2B5EF4-FFF2-40B4-BE49-F238E27FC236}">
                <a16:creationId xmlns:a16="http://schemas.microsoft.com/office/drawing/2014/main" id="{D5402F16-6F8A-6594-F0F0-6B2B82573D9D}"/>
              </a:ext>
            </a:extLst>
          </p:cNvPr>
          <p:cNvSpPr/>
          <p:nvPr/>
        </p:nvSpPr>
        <p:spPr>
          <a:xfrm rot="5400000">
            <a:off x="3637241" y="103355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 name="Elipse 167">
            <a:extLst>
              <a:ext uri="{FF2B5EF4-FFF2-40B4-BE49-F238E27FC236}">
                <a16:creationId xmlns:a16="http://schemas.microsoft.com/office/drawing/2014/main" id="{38A21656-8430-00A8-A139-2B441C4B93CE}"/>
              </a:ext>
            </a:extLst>
          </p:cNvPr>
          <p:cNvSpPr/>
          <p:nvPr/>
        </p:nvSpPr>
        <p:spPr>
          <a:xfrm rot="5400000">
            <a:off x="968656" y="1033554"/>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6" name="Elipse 167">
            <a:extLst>
              <a:ext uri="{FF2B5EF4-FFF2-40B4-BE49-F238E27FC236}">
                <a16:creationId xmlns:a16="http://schemas.microsoft.com/office/drawing/2014/main" id="{74527902-12CF-1B02-2EB0-2AB1DC00DD77}"/>
              </a:ext>
            </a:extLst>
          </p:cNvPr>
          <p:cNvSpPr/>
          <p:nvPr/>
        </p:nvSpPr>
        <p:spPr>
          <a:xfrm rot="5400000">
            <a:off x="968656" y="216800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7" name="Elipse 167">
            <a:extLst>
              <a:ext uri="{FF2B5EF4-FFF2-40B4-BE49-F238E27FC236}">
                <a16:creationId xmlns:a16="http://schemas.microsoft.com/office/drawing/2014/main" id="{BCE350F6-699F-23E7-08D7-3269873784D7}"/>
              </a:ext>
            </a:extLst>
          </p:cNvPr>
          <p:cNvSpPr/>
          <p:nvPr/>
        </p:nvSpPr>
        <p:spPr>
          <a:xfrm rot="5400000">
            <a:off x="3637241" y="216800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9" name="Retângulo 63">
            <a:extLst>
              <a:ext uri="{FF2B5EF4-FFF2-40B4-BE49-F238E27FC236}">
                <a16:creationId xmlns:a16="http://schemas.microsoft.com/office/drawing/2014/main" id="{1A8C159E-D6FD-AB42-FEB2-76646B5BC6BB}"/>
              </a:ext>
            </a:extLst>
          </p:cNvPr>
          <p:cNvSpPr/>
          <p:nvPr/>
        </p:nvSpPr>
        <p:spPr>
          <a:xfrm>
            <a:off x="6444208" y="357301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0" name="Retângulo 63">
            <a:extLst>
              <a:ext uri="{FF2B5EF4-FFF2-40B4-BE49-F238E27FC236}">
                <a16:creationId xmlns:a16="http://schemas.microsoft.com/office/drawing/2014/main" id="{B612A277-A74E-8163-B783-A5F61842648A}"/>
              </a:ext>
            </a:extLst>
          </p:cNvPr>
          <p:cNvSpPr/>
          <p:nvPr/>
        </p:nvSpPr>
        <p:spPr>
          <a:xfrm>
            <a:off x="5564064" y="357301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1" name="Retângulo 63">
            <a:extLst>
              <a:ext uri="{FF2B5EF4-FFF2-40B4-BE49-F238E27FC236}">
                <a16:creationId xmlns:a16="http://schemas.microsoft.com/office/drawing/2014/main" id="{197527F7-EBC7-E053-EF9C-06021AFBA8F1}"/>
              </a:ext>
            </a:extLst>
          </p:cNvPr>
          <p:cNvSpPr/>
          <p:nvPr/>
        </p:nvSpPr>
        <p:spPr>
          <a:xfrm>
            <a:off x="6441930" y="57340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2" name="Retângulo 63">
            <a:extLst>
              <a:ext uri="{FF2B5EF4-FFF2-40B4-BE49-F238E27FC236}">
                <a16:creationId xmlns:a16="http://schemas.microsoft.com/office/drawing/2014/main" id="{9E601C7B-14DE-C291-67A3-CD61202A177B}"/>
              </a:ext>
            </a:extLst>
          </p:cNvPr>
          <p:cNvSpPr/>
          <p:nvPr/>
        </p:nvSpPr>
        <p:spPr>
          <a:xfrm>
            <a:off x="5560294" y="5734040"/>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3" name="Picture 2" descr="Monster Energy logo Fichier transparent | PNG Play">
            <a:extLst>
              <a:ext uri="{FF2B5EF4-FFF2-40B4-BE49-F238E27FC236}">
                <a16:creationId xmlns:a16="http://schemas.microsoft.com/office/drawing/2014/main" id="{885B6EFC-F4FA-E488-4740-A5FD7FBA3218}"/>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471792" y="3971577"/>
            <a:ext cx="269619" cy="372330"/>
          </a:xfrm>
          <a:prstGeom prst="rect">
            <a:avLst/>
          </a:prstGeom>
          <a:noFill/>
          <a:extLst>
            <a:ext uri="{909E8E84-426E-40DD-AFC4-6F175D3DCCD1}">
              <a14:hiddenFill xmlns:a14="http://schemas.microsoft.com/office/drawing/2010/main">
                <a:solidFill>
                  <a:srgbClr val="FFFFFF"/>
                </a:solidFill>
              </a14:hiddenFill>
            </a:ext>
          </a:extLst>
        </p:spPr>
      </p:pic>
      <p:pic>
        <p:nvPicPr>
          <p:cNvPr id="448" name="Picture 2" descr="Monster Energy logo Fichier transparent | PNG Play">
            <a:extLst>
              <a:ext uri="{FF2B5EF4-FFF2-40B4-BE49-F238E27FC236}">
                <a16:creationId xmlns:a16="http://schemas.microsoft.com/office/drawing/2014/main" id="{EF9069A1-8009-C8CF-C90D-5BF010E4081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023396" y="3971577"/>
            <a:ext cx="269619" cy="372330"/>
          </a:xfrm>
          <a:prstGeom prst="rect">
            <a:avLst/>
          </a:prstGeom>
          <a:noFill/>
          <a:extLst>
            <a:ext uri="{909E8E84-426E-40DD-AFC4-6F175D3DCCD1}">
              <a14:hiddenFill xmlns:a14="http://schemas.microsoft.com/office/drawing/2010/main">
                <a:solidFill>
                  <a:srgbClr val="FFFFFF"/>
                </a:solidFill>
              </a14:hiddenFill>
            </a:ext>
          </a:extLst>
        </p:spPr>
      </p:pic>
      <p:pic>
        <p:nvPicPr>
          <p:cNvPr id="449" name="Picture 2" descr="Monster Energy logo Fichier transparent | PNG Play">
            <a:extLst>
              <a:ext uri="{FF2B5EF4-FFF2-40B4-BE49-F238E27FC236}">
                <a16:creationId xmlns:a16="http://schemas.microsoft.com/office/drawing/2014/main" id="{80E3291C-8229-ED01-3113-B5FAE9BE6FAE}"/>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98553" y="5760774"/>
            <a:ext cx="294462" cy="406637"/>
          </a:xfrm>
          <a:prstGeom prst="rect">
            <a:avLst/>
          </a:prstGeom>
          <a:noFill/>
          <a:extLst>
            <a:ext uri="{909E8E84-426E-40DD-AFC4-6F175D3DCCD1}">
              <a14:hiddenFill xmlns:a14="http://schemas.microsoft.com/office/drawing/2010/main">
                <a:solidFill>
                  <a:srgbClr val="FFFFFF"/>
                </a:solidFill>
              </a14:hiddenFill>
            </a:ext>
          </a:extLst>
        </p:spPr>
      </p:pic>
      <p:pic>
        <p:nvPicPr>
          <p:cNvPr id="450" name="Picture 2" descr="Monster Energy logo Fichier transparent | PNG Play">
            <a:extLst>
              <a:ext uri="{FF2B5EF4-FFF2-40B4-BE49-F238E27FC236}">
                <a16:creationId xmlns:a16="http://schemas.microsoft.com/office/drawing/2014/main" id="{34D5C7DD-BD15-70D5-A360-086342F74C6B}"/>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6471792" y="5760774"/>
            <a:ext cx="294462" cy="406637"/>
          </a:xfrm>
          <a:prstGeom prst="rect">
            <a:avLst/>
          </a:prstGeom>
          <a:noFill/>
          <a:extLst>
            <a:ext uri="{909E8E84-426E-40DD-AFC4-6F175D3DCCD1}">
              <a14:hiddenFill xmlns:a14="http://schemas.microsoft.com/office/drawing/2010/main">
                <a:solidFill>
                  <a:srgbClr val="FFFFFF"/>
                </a:solidFill>
              </a14:hiddenFill>
            </a:ext>
          </a:extLst>
        </p:spPr>
      </p:pic>
      <p:sp>
        <p:nvSpPr>
          <p:cNvPr id="452" name="Elipse 167">
            <a:extLst>
              <a:ext uri="{FF2B5EF4-FFF2-40B4-BE49-F238E27FC236}">
                <a16:creationId xmlns:a16="http://schemas.microsoft.com/office/drawing/2014/main" id="{8A159430-7D6C-3D36-5A30-3A14FABDDF7F}"/>
              </a:ext>
            </a:extLst>
          </p:cNvPr>
          <p:cNvSpPr/>
          <p:nvPr/>
        </p:nvSpPr>
        <p:spPr>
          <a:xfrm rot="5400000">
            <a:off x="6788867" y="381622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3" name="Elipse 167">
            <a:extLst>
              <a:ext uri="{FF2B5EF4-FFF2-40B4-BE49-F238E27FC236}">
                <a16:creationId xmlns:a16="http://schemas.microsoft.com/office/drawing/2014/main" id="{FFC1C355-9F80-FC63-A269-4F283DCA18F2}"/>
              </a:ext>
            </a:extLst>
          </p:cNvPr>
          <p:cNvSpPr/>
          <p:nvPr/>
        </p:nvSpPr>
        <p:spPr>
          <a:xfrm rot="5400000">
            <a:off x="5831767" y="3817277"/>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7" name="Elipse 167">
            <a:extLst>
              <a:ext uri="{FF2B5EF4-FFF2-40B4-BE49-F238E27FC236}">
                <a16:creationId xmlns:a16="http://schemas.microsoft.com/office/drawing/2014/main" id="{239F966A-6016-0695-C628-F5EB344C8756}"/>
              </a:ext>
            </a:extLst>
          </p:cNvPr>
          <p:cNvSpPr/>
          <p:nvPr/>
        </p:nvSpPr>
        <p:spPr>
          <a:xfrm rot="5400000">
            <a:off x="6790372" y="6148922"/>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58" name="Elipse 167">
            <a:extLst>
              <a:ext uri="{FF2B5EF4-FFF2-40B4-BE49-F238E27FC236}">
                <a16:creationId xmlns:a16="http://schemas.microsoft.com/office/drawing/2014/main" id="{04B5334D-4AC8-199B-FAF4-DA2548438FBA}"/>
              </a:ext>
            </a:extLst>
          </p:cNvPr>
          <p:cNvSpPr/>
          <p:nvPr/>
        </p:nvSpPr>
        <p:spPr>
          <a:xfrm rot="5400000">
            <a:off x="5831895" y="6148922"/>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60" name="Octagon 459">
            <a:extLst>
              <a:ext uri="{FF2B5EF4-FFF2-40B4-BE49-F238E27FC236}">
                <a16:creationId xmlns:a16="http://schemas.microsoft.com/office/drawing/2014/main" id="{6854D305-2CE8-01B6-C1A2-7A890A658383}"/>
              </a:ext>
            </a:extLst>
          </p:cNvPr>
          <p:cNvSpPr/>
          <p:nvPr/>
        </p:nvSpPr>
        <p:spPr>
          <a:xfrm>
            <a:off x="1561004" y="3687699"/>
            <a:ext cx="2722964" cy="2722962"/>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1" name="Octagon 460">
            <a:extLst>
              <a:ext uri="{FF2B5EF4-FFF2-40B4-BE49-F238E27FC236}">
                <a16:creationId xmlns:a16="http://schemas.microsoft.com/office/drawing/2014/main" id="{6A28A01D-317C-87DF-9C8C-E4C04C5BDAEE}"/>
              </a:ext>
            </a:extLst>
          </p:cNvPr>
          <p:cNvSpPr/>
          <p:nvPr/>
        </p:nvSpPr>
        <p:spPr>
          <a:xfrm>
            <a:off x="1755391" y="3882086"/>
            <a:ext cx="2334191" cy="2334189"/>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2" name="Retângulo 63">
            <a:extLst>
              <a:ext uri="{FF2B5EF4-FFF2-40B4-BE49-F238E27FC236}">
                <a16:creationId xmlns:a16="http://schemas.microsoft.com/office/drawing/2014/main" id="{8C82B4E1-4164-27DD-1835-B2E38BC74A6A}"/>
              </a:ext>
            </a:extLst>
          </p:cNvPr>
          <p:cNvSpPr/>
          <p:nvPr/>
        </p:nvSpPr>
        <p:spPr>
          <a:xfrm>
            <a:off x="3577228" y="422157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3" name="Picture 2" descr="Monster Energy logo Fichier transparent | PNG Play">
            <a:extLst>
              <a:ext uri="{FF2B5EF4-FFF2-40B4-BE49-F238E27FC236}">
                <a16:creationId xmlns:a16="http://schemas.microsoft.com/office/drawing/2014/main" id="{B82EFA00-31B4-B1DF-C529-FB227703F5CA}"/>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598780" y="4559886"/>
            <a:ext cx="316261" cy="436740"/>
          </a:xfrm>
          <a:prstGeom prst="rect">
            <a:avLst/>
          </a:prstGeom>
          <a:noFill/>
          <a:extLst>
            <a:ext uri="{909E8E84-426E-40DD-AFC4-6F175D3DCCD1}">
              <a14:hiddenFill xmlns:a14="http://schemas.microsoft.com/office/drawing/2010/main">
                <a:solidFill>
                  <a:srgbClr val="FFFFFF"/>
                </a:solidFill>
              </a14:hiddenFill>
            </a:ext>
          </a:extLst>
        </p:spPr>
      </p:pic>
      <p:sp>
        <p:nvSpPr>
          <p:cNvPr id="464" name="Retângulo 63">
            <a:extLst>
              <a:ext uri="{FF2B5EF4-FFF2-40B4-BE49-F238E27FC236}">
                <a16:creationId xmlns:a16="http://schemas.microsoft.com/office/drawing/2014/main" id="{F3FBD684-8387-3B05-310D-2C9866139533}"/>
              </a:ext>
            </a:extLst>
          </p:cNvPr>
          <p:cNvSpPr/>
          <p:nvPr/>
        </p:nvSpPr>
        <p:spPr>
          <a:xfrm>
            <a:off x="3577228" y="508312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5" name="Picture 2" descr="Monster Energy logo Fichier transparent | PNG Play">
            <a:extLst>
              <a:ext uri="{FF2B5EF4-FFF2-40B4-BE49-F238E27FC236}">
                <a16:creationId xmlns:a16="http://schemas.microsoft.com/office/drawing/2014/main" id="{8E1561AD-6BD2-C3E6-7862-AB6888F86E4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3599630" y="5100797"/>
            <a:ext cx="316262" cy="436742"/>
          </a:xfrm>
          <a:prstGeom prst="rect">
            <a:avLst/>
          </a:prstGeom>
          <a:noFill/>
          <a:extLst>
            <a:ext uri="{909E8E84-426E-40DD-AFC4-6F175D3DCCD1}">
              <a14:hiddenFill xmlns:a14="http://schemas.microsoft.com/office/drawing/2010/main">
                <a:solidFill>
                  <a:srgbClr val="FFFFFF"/>
                </a:solidFill>
              </a14:hiddenFill>
            </a:ext>
          </a:extLst>
        </p:spPr>
      </p:pic>
      <p:sp>
        <p:nvSpPr>
          <p:cNvPr id="466" name="Retângulo 63">
            <a:extLst>
              <a:ext uri="{FF2B5EF4-FFF2-40B4-BE49-F238E27FC236}">
                <a16:creationId xmlns:a16="http://schemas.microsoft.com/office/drawing/2014/main" id="{A2AA653C-FDEE-27AF-A102-5708737F571D}"/>
              </a:ext>
            </a:extLst>
          </p:cNvPr>
          <p:cNvSpPr/>
          <p:nvPr/>
        </p:nvSpPr>
        <p:spPr>
          <a:xfrm>
            <a:off x="1475656" y="4221579"/>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67" name="Retângulo 63">
            <a:extLst>
              <a:ext uri="{FF2B5EF4-FFF2-40B4-BE49-F238E27FC236}">
                <a16:creationId xmlns:a16="http://schemas.microsoft.com/office/drawing/2014/main" id="{22D18B3D-364B-6566-C8E7-EB5D7ABC2BD0}"/>
              </a:ext>
            </a:extLst>
          </p:cNvPr>
          <p:cNvSpPr/>
          <p:nvPr/>
        </p:nvSpPr>
        <p:spPr>
          <a:xfrm>
            <a:off x="1475656" y="5083124"/>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468" name="Picture 2" descr="Monster Energy logo Fichier transparent | PNG Play">
            <a:extLst>
              <a:ext uri="{FF2B5EF4-FFF2-40B4-BE49-F238E27FC236}">
                <a16:creationId xmlns:a16="http://schemas.microsoft.com/office/drawing/2014/main" id="{219C29BF-55B8-4259-B73E-D5A7920AC4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926371" y="4559886"/>
            <a:ext cx="320690" cy="442857"/>
          </a:xfrm>
          <a:prstGeom prst="rect">
            <a:avLst/>
          </a:prstGeom>
          <a:noFill/>
          <a:extLst>
            <a:ext uri="{909E8E84-426E-40DD-AFC4-6F175D3DCCD1}">
              <a14:hiddenFill xmlns:a14="http://schemas.microsoft.com/office/drawing/2010/main">
                <a:solidFill>
                  <a:srgbClr val="FFFFFF"/>
                </a:solidFill>
              </a14:hiddenFill>
            </a:ext>
          </a:extLst>
        </p:spPr>
      </p:pic>
      <p:pic>
        <p:nvPicPr>
          <p:cNvPr id="469" name="Picture 2" descr="Monster Energy logo Fichier transparent | PNG Play">
            <a:extLst>
              <a:ext uri="{FF2B5EF4-FFF2-40B4-BE49-F238E27FC236}">
                <a16:creationId xmlns:a16="http://schemas.microsoft.com/office/drawing/2014/main" id="{E95C394C-B226-E66D-95BE-83B84F8015B9}"/>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1930798" y="5100797"/>
            <a:ext cx="316263" cy="436743"/>
          </a:xfrm>
          <a:prstGeom prst="rect">
            <a:avLst/>
          </a:prstGeom>
          <a:noFill/>
          <a:extLst>
            <a:ext uri="{909E8E84-426E-40DD-AFC4-6F175D3DCCD1}">
              <a14:hiddenFill xmlns:a14="http://schemas.microsoft.com/office/drawing/2010/main">
                <a:solidFill>
                  <a:srgbClr val="FFFFFF"/>
                </a:solidFill>
              </a14:hiddenFill>
            </a:ext>
          </a:extLst>
        </p:spPr>
      </p:pic>
      <p:sp>
        <p:nvSpPr>
          <p:cNvPr id="485" name="Elipse 167">
            <a:extLst>
              <a:ext uri="{FF2B5EF4-FFF2-40B4-BE49-F238E27FC236}">
                <a16:creationId xmlns:a16="http://schemas.microsoft.com/office/drawing/2014/main" id="{EA690228-E4C8-5CEC-B1AE-8BDC9314C7DB}"/>
              </a:ext>
            </a:extLst>
          </p:cNvPr>
          <p:cNvSpPr/>
          <p:nvPr/>
        </p:nvSpPr>
        <p:spPr>
          <a:xfrm rot="5400000">
            <a:off x="4005668" y="448726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3" name="Elipse 167">
            <a:extLst>
              <a:ext uri="{FF2B5EF4-FFF2-40B4-BE49-F238E27FC236}">
                <a16:creationId xmlns:a16="http://schemas.microsoft.com/office/drawing/2014/main" id="{867FBD09-4D1E-BA73-847C-0CAEDD3BDDAA}"/>
              </a:ext>
            </a:extLst>
          </p:cNvPr>
          <p:cNvSpPr/>
          <p:nvPr/>
        </p:nvSpPr>
        <p:spPr>
          <a:xfrm rot="5400000">
            <a:off x="1680723" y="4487265"/>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4" name="Elipse 167">
            <a:extLst>
              <a:ext uri="{FF2B5EF4-FFF2-40B4-BE49-F238E27FC236}">
                <a16:creationId xmlns:a16="http://schemas.microsoft.com/office/drawing/2014/main" id="{19A4BE80-4522-E07D-FA9C-C6D1DDD044A4}"/>
              </a:ext>
            </a:extLst>
          </p:cNvPr>
          <p:cNvSpPr/>
          <p:nvPr/>
        </p:nvSpPr>
        <p:spPr>
          <a:xfrm rot="5400000">
            <a:off x="1687059" y="546349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495" name="Elipse 167">
            <a:extLst>
              <a:ext uri="{FF2B5EF4-FFF2-40B4-BE49-F238E27FC236}">
                <a16:creationId xmlns:a16="http://schemas.microsoft.com/office/drawing/2014/main" id="{B0457C34-A0BE-D320-976C-4DB4A7D11288}"/>
              </a:ext>
            </a:extLst>
          </p:cNvPr>
          <p:cNvSpPr/>
          <p:nvPr/>
        </p:nvSpPr>
        <p:spPr>
          <a:xfrm rot="5400000">
            <a:off x="4010998" y="5463493"/>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503" name="Octagon 502">
            <a:extLst>
              <a:ext uri="{FF2B5EF4-FFF2-40B4-BE49-F238E27FC236}">
                <a16:creationId xmlns:a16="http://schemas.microsoft.com/office/drawing/2014/main" id="{4F2C3C85-4983-7123-F116-6DAD62358881}"/>
              </a:ext>
            </a:extLst>
          </p:cNvPr>
          <p:cNvSpPr/>
          <p:nvPr/>
        </p:nvSpPr>
        <p:spPr>
          <a:xfrm>
            <a:off x="4565600" y="331872"/>
            <a:ext cx="2668418" cy="2668416"/>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tângulo 63">
            <a:extLst>
              <a:ext uri="{FF2B5EF4-FFF2-40B4-BE49-F238E27FC236}">
                <a16:creationId xmlns:a16="http://schemas.microsoft.com/office/drawing/2014/main" id="{7AF2241D-32CF-A710-F032-8B09EDDA23DC}"/>
              </a:ext>
            </a:extLst>
          </p:cNvPr>
          <p:cNvSpPr/>
          <p:nvPr/>
        </p:nvSpPr>
        <p:spPr>
          <a:xfrm>
            <a:off x="5943837" y="18913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7" name="Retângulo 63">
            <a:extLst>
              <a:ext uri="{FF2B5EF4-FFF2-40B4-BE49-F238E27FC236}">
                <a16:creationId xmlns:a16="http://schemas.microsoft.com/office/drawing/2014/main" id="{C6FF9BE9-4A95-EE3C-9A40-CC8039A2696E}"/>
              </a:ext>
            </a:extLst>
          </p:cNvPr>
          <p:cNvSpPr/>
          <p:nvPr/>
        </p:nvSpPr>
        <p:spPr>
          <a:xfrm>
            <a:off x="5063693" y="189132"/>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8" name="Retângulo 63">
            <a:extLst>
              <a:ext uri="{FF2B5EF4-FFF2-40B4-BE49-F238E27FC236}">
                <a16:creationId xmlns:a16="http://schemas.microsoft.com/office/drawing/2014/main" id="{23832555-CF28-43F5-C61C-6F5CC9E57AAE}"/>
              </a:ext>
            </a:extLst>
          </p:cNvPr>
          <p:cNvSpPr/>
          <p:nvPr/>
        </p:nvSpPr>
        <p:spPr>
          <a:xfrm>
            <a:off x="5941559" y="23501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69" name="Retângulo 63">
            <a:extLst>
              <a:ext uri="{FF2B5EF4-FFF2-40B4-BE49-F238E27FC236}">
                <a16:creationId xmlns:a16="http://schemas.microsoft.com/office/drawing/2014/main" id="{52F8C904-84BC-B404-D2B7-34E819E45788}"/>
              </a:ext>
            </a:extLst>
          </p:cNvPr>
          <p:cNvSpPr/>
          <p:nvPr/>
        </p:nvSpPr>
        <p:spPr>
          <a:xfrm>
            <a:off x="5059923" y="2350156"/>
            <a:ext cx="792088" cy="792088"/>
          </a:xfrm>
          <a:prstGeom prst="rect">
            <a:avLst/>
          </a:prstGeom>
          <a:noFill/>
          <a:ln w="3175"/>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70" name="Picture 2" descr="Monster Energy logo Fichier transparent | PNG Play">
            <a:extLst>
              <a:ext uri="{FF2B5EF4-FFF2-40B4-BE49-F238E27FC236}">
                <a16:creationId xmlns:a16="http://schemas.microsoft.com/office/drawing/2014/main" id="{9B7FAD4B-4276-0ED0-237B-EE869E7D06B0}"/>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71421" y="401632"/>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2" descr="Monster Energy logo Fichier transparent | PNG Play">
            <a:extLst>
              <a:ext uri="{FF2B5EF4-FFF2-40B4-BE49-F238E27FC236}">
                <a16:creationId xmlns:a16="http://schemas.microsoft.com/office/drawing/2014/main" id="{0F7BA1EA-DC24-1C1D-C968-C4965E4ABB21}"/>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388291" y="401632"/>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Monster Energy logo Fichier transparent | PNG Play">
            <a:extLst>
              <a:ext uri="{FF2B5EF4-FFF2-40B4-BE49-F238E27FC236}">
                <a16:creationId xmlns:a16="http://schemas.microsoft.com/office/drawing/2014/main" id="{28042F53-7D25-676A-728F-DA8ABD43A5B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388291" y="2376890"/>
            <a:ext cx="404353" cy="55839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 descr="Monster Energy logo Fichier transparent | PNG Play">
            <a:extLst>
              <a:ext uri="{FF2B5EF4-FFF2-40B4-BE49-F238E27FC236}">
                <a16:creationId xmlns:a16="http://schemas.microsoft.com/office/drawing/2014/main" id="{9CA8C742-2C30-A5BF-0D41-1B15D58A580D}"/>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19327" t="2" r="24672" b="22663"/>
          <a:stretch/>
        </p:blipFill>
        <p:spPr bwMode="auto">
          <a:xfrm>
            <a:off x="5971420" y="2376890"/>
            <a:ext cx="404353" cy="558391"/>
          </a:xfrm>
          <a:prstGeom prst="rect">
            <a:avLst/>
          </a:prstGeom>
          <a:noFill/>
          <a:extLst>
            <a:ext uri="{909E8E84-426E-40DD-AFC4-6F175D3DCCD1}">
              <a14:hiddenFill xmlns:a14="http://schemas.microsoft.com/office/drawing/2010/main">
                <a:solidFill>
                  <a:srgbClr val="FFFFFF"/>
                </a:solidFill>
              </a14:hiddenFill>
            </a:ext>
          </a:extLst>
        </p:spPr>
      </p:pic>
      <p:sp>
        <p:nvSpPr>
          <p:cNvPr id="75" name="Elipse 167">
            <a:extLst>
              <a:ext uri="{FF2B5EF4-FFF2-40B4-BE49-F238E27FC236}">
                <a16:creationId xmlns:a16="http://schemas.microsoft.com/office/drawing/2014/main" id="{4C872384-F0EF-7CB9-B348-6E2F5C4EE0AC}"/>
              </a:ext>
            </a:extLst>
          </p:cNvPr>
          <p:cNvSpPr/>
          <p:nvPr/>
        </p:nvSpPr>
        <p:spPr>
          <a:xfrm rot="5400000">
            <a:off x="6393154" y="260609"/>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76" name="Elipse 167">
            <a:extLst>
              <a:ext uri="{FF2B5EF4-FFF2-40B4-BE49-F238E27FC236}">
                <a16:creationId xmlns:a16="http://schemas.microsoft.com/office/drawing/2014/main" id="{28D9CF8B-FD29-F01B-78EA-4F7357D2413C}"/>
              </a:ext>
            </a:extLst>
          </p:cNvPr>
          <p:cNvSpPr/>
          <p:nvPr/>
        </p:nvSpPr>
        <p:spPr>
          <a:xfrm rot="5400000">
            <a:off x="5285683" y="257616"/>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0" name="Elipse 167">
            <a:extLst>
              <a:ext uri="{FF2B5EF4-FFF2-40B4-BE49-F238E27FC236}">
                <a16:creationId xmlns:a16="http://schemas.microsoft.com/office/drawing/2014/main" id="{4CB7661D-9606-E7BA-3DA4-3419A7A34286}"/>
              </a:ext>
            </a:extLst>
          </p:cNvPr>
          <p:cNvSpPr/>
          <p:nvPr/>
        </p:nvSpPr>
        <p:spPr>
          <a:xfrm rot="5400000">
            <a:off x="6387604" y="2927250"/>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1" name="Elipse 167">
            <a:extLst>
              <a:ext uri="{FF2B5EF4-FFF2-40B4-BE49-F238E27FC236}">
                <a16:creationId xmlns:a16="http://schemas.microsoft.com/office/drawing/2014/main" id="{1DEB6D24-80C3-6463-AC41-4633BAD9A9F2}"/>
              </a:ext>
            </a:extLst>
          </p:cNvPr>
          <p:cNvSpPr/>
          <p:nvPr/>
        </p:nvSpPr>
        <p:spPr>
          <a:xfrm rot="5400000">
            <a:off x="5285683" y="2935281"/>
            <a:ext cx="144016" cy="144016"/>
          </a:xfrm>
          <a:prstGeom prst="ellipse">
            <a:avLst/>
          </a:prstGeom>
          <a:solidFill>
            <a:srgbClr val="FFFFCC"/>
          </a:solidFill>
          <a:ln>
            <a:solidFill>
              <a:srgbClr val="FF000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30286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BCAAD208-81C4-57AB-BB80-8D32E02A4BF0}"/>
              </a:ext>
            </a:extLst>
          </p:cNvPr>
          <p:cNvGrpSpPr/>
          <p:nvPr/>
        </p:nvGrpSpPr>
        <p:grpSpPr>
          <a:xfrm>
            <a:off x="2051721" y="1687468"/>
            <a:ext cx="5040558" cy="2605626"/>
            <a:chOff x="3210518" y="1831482"/>
            <a:chExt cx="2722964" cy="2317598"/>
          </a:xfrm>
        </p:grpSpPr>
        <p:sp>
          <p:nvSpPr>
            <p:cNvPr id="460" name="Octagon 459">
              <a:extLst>
                <a:ext uri="{FF2B5EF4-FFF2-40B4-BE49-F238E27FC236}">
                  <a16:creationId xmlns:a16="http://schemas.microsoft.com/office/drawing/2014/main" id="{6854D305-2CE8-01B6-C1A2-7A890A658383}"/>
                </a:ext>
              </a:extLst>
            </p:cNvPr>
            <p:cNvSpPr/>
            <p:nvPr/>
          </p:nvSpPr>
          <p:spPr>
            <a:xfrm>
              <a:off x="3210518" y="1831482"/>
              <a:ext cx="2722964" cy="2317598"/>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1" name="Octagon 460">
              <a:extLst>
                <a:ext uri="{FF2B5EF4-FFF2-40B4-BE49-F238E27FC236}">
                  <a16:creationId xmlns:a16="http://schemas.microsoft.com/office/drawing/2014/main" id="{6A28A01D-317C-87DF-9C8C-E4C04C5BDAEE}"/>
                </a:ext>
              </a:extLst>
            </p:cNvPr>
            <p:cNvSpPr/>
            <p:nvPr/>
          </p:nvSpPr>
          <p:spPr>
            <a:xfrm>
              <a:off x="3864030" y="2407916"/>
              <a:ext cx="1415941" cy="1164733"/>
            </a:xfrm>
            <a:prstGeom prst="octagon">
              <a:avLst/>
            </a:prstGeom>
            <a:solidFill>
              <a:srgbClr val="B7D2D5"/>
            </a:solid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 name="Rectangle 2">
            <a:extLst>
              <a:ext uri="{FF2B5EF4-FFF2-40B4-BE49-F238E27FC236}">
                <a16:creationId xmlns:a16="http://schemas.microsoft.com/office/drawing/2014/main" id="{55F7E0BF-A467-6DB5-95F4-2A917DDCD4DB}"/>
              </a:ext>
            </a:extLst>
          </p:cNvPr>
          <p:cNvSpPr/>
          <p:nvPr/>
        </p:nvSpPr>
        <p:spPr>
          <a:xfrm>
            <a:off x="1128958" y="1268760"/>
            <a:ext cx="6886084" cy="344304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Connector 5">
            <a:extLst>
              <a:ext uri="{FF2B5EF4-FFF2-40B4-BE49-F238E27FC236}">
                <a16:creationId xmlns:a16="http://schemas.microsoft.com/office/drawing/2014/main" id="{C4DE2A39-CDE6-EA46-CA18-5909E86CE496}"/>
              </a:ext>
            </a:extLst>
          </p:cNvPr>
          <p:cNvCxnSpPr>
            <a:stCxn id="3" idx="0"/>
            <a:endCxn id="3" idx="2"/>
          </p:cNvCxnSpPr>
          <p:nvPr/>
        </p:nvCxnSpPr>
        <p:spPr>
          <a:xfrm>
            <a:off x="4572000" y="1268760"/>
            <a:ext cx="0" cy="34430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5872D49-122C-6CFB-62FB-7208B3981D07}"/>
              </a:ext>
            </a:extLst>
          </p:cNvPr>
          <p:cNvCxnSpPr>
            <a:cxnSpLocks/>
            <a:stCxn id="3" idx="1"/>
            <a:endCxn id="3" idx="3"/>
          </p:cNvCxnSpPr>
          <p:nvPr/>
        </p:nvCxnSpPr>
        <p:spPr>
          <a:xfrm>
            <a:off x="1128958" y="2990281"/>
            <a:ext cx="688608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C00D9DF-934E-6011-45BE-0B6E67C4F46B}"/>
              </a:ext>
            </a:extLst>
          </p:cNvPr>
          <p:cNvCxnSpPr/>
          <p:nvPr/>
        </p:nvCxnSpPr>
        <p:spPr>
          <a:xfrm>
            <a:off x="5882546" y="105273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13746C3-9F34-54FA-A8D9-7F2CC3AFF96F}"/>
              </a:ext>
            </a:extLst>
          </p:cNvPr>
          <p:cNvSpPr txBox="1"/>
          <p:nvPr/>
        </p:nvSpPr>
        <p:spPr>
          <a:xfrm>
            <a:off x="5644340" y="683404"/>
            <a:ext cx="476412" cy="369332"/>
          </a:xfrm>
          <a:prstGeom prst="rect">
            <a:avLst/>
          </a:prstGeom>
          <a:noFill/>
        </p:spPr>
        <p:txBody>
          <a:bodyPr wrap="none" rtlCol="0">
            <a:spAutoFit/>
          </a:bodyPr>
          <a:lstStyle/>
          <a:p>
            <a:r>
              <a:rPr lang="en-US" dirty="0"/>
              <a:t>0.4</a:t>
            </a:r>
          </a:p>
        </p:txBody>
      </p:sp>
      <p:cxnSp>
        <p:nvCxnSpPr>
          <p:cNvPr id="20" name="Straight Connector 19">
            <a:extLst>
              <a:ext uri="{FF2B5EF4-FFF2-40B4-BE49-F238E27FC236}">
                <a16:creationId xmlns:a16="http://schemas.microsoft.com/office/drawing/2014/main" id="{03D32F61-2791-38C5-CF25-F0AA66AC8BAB}"/>
              </a:ext>
            </a:extLst>
          </p:cNvPr>
          <p:cNvCxnSpPr/>
          <p:nvPr/>
        </p:nvCxnSpPr>
        <p:spPr>
          <a:xfrm>
            <a:off x="5508104" y="77844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542713C-364F-0336-96D0-9F6DF59282D2}"/>
              </a:ext>
            </a:extLst>
          </p:cNvPr>
          <p:cNvSpPr txBox="1"/>
          <p:nvPr/>
        </p:nvSpPr>
        <p:spPr>
          <a:xfrm>
            <a:off x="5269898" y="409114"/>
            <a:ext cx="476412" cy="369332"/>
          </a:xfrm>
          <a:prstGeom prst="rect">
            <a:avLst/>
          </a:prstGeom>
          <a:noFill/>
        </p:spPr>
        <p:txBody>
          <a:bodyPr wrap="none" rtlCol="0">
            <a:spAutoFit/>
          </a:bodyPr>
          <a:lstStyle/>
          <a:p>
            <a:r>
              <a:rPr lang="en-US" dirty="0"/>
              <a:t>0.2</a:t>
            </a:r>
          </a:p>
        </p:txBody>
      </p:sp>
      <p:cxnSp>
        <p:nvCxnSpPr>
          <p:cNvPr id="22" name="Straight Connector 21">
            <a:extLst>
              <a:ext uri="{FF2B5EF4-FFF2-40B4-BE49-F238E27FC236}">
                <a16:creationId xmlns:a16="http://schemas.microsoft.com/office/drawing/2014/main" id="{BE95873F-810D-0980-4B8F-207CDD66D3BF}"/>
              </a:ext>
            </a:extLst>
          </p:cNvPr>
          <p:cNvCxnSpPr/>
          <p:nvPr/>
        </p:nvCxnSpPr>
        <p:spPr>
          <a:xfrm>
            <a:off x="3635897" y="77844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5463B6B2-34FF-C302-FDC5-2A115B634191}"/>
              </a:ext>
            </a:extLst>
          </p:cNvPr>
          <p:cNvSpPr txBox="1"/>
          <p:nvPr/>
        </p:nvSpPr>
        <p:spPr>
          <a:xfrm>
            <a:off x="3397691" y="409114"/>
            <a:ext cx="546945" cy="369332"/>
          </a:xfrm>
          <a:prstGeom prst="rect">
            <a:avLst/>
          </a:prstGeom>
          <a:noFill/>
        </p:spPr>
        <p:txBody>
          <a:bodyPr wrap="none" rtlCol="0">
            <a:spAutoFit/>
          </a:bodyPr>
          <a:lstStyle/>
          <a:p>
            <a:r>
              <a:rPr lang="en-US" dirty="0"/>
              <a:t>-0.2</a:t>
            </a:r>
          </a:p>
        </p:txBody>
      </p:sp>
      <p:cxnSp>
        <p:nvCxnSpPr>
          <p:cNvPr id="24" name="Straight Connector 23">
            <a:extLst>
              <a:ext uri="{FF2B5EF4-FFF2-40B4-BE49-F238E27FC236}">
                <a16:creationId xmlns:a16="http://schemas.microsoft.com/office/drawing/2014/main" id="{559BBCC7-5156-FC95-2523-B11089AB6CB5}"/>
              </a:ext>
            </a:extLst>
          </p:cNvPr>
          <p:cNvCxnSpPr/>
          <p:nvPr/>
        </p:nvCxnSpPr>
        <p:spPr>
          <a:xfrm>
            <a:off x="3253815" y="1052736"/>
            <a:ext cx="0" cy="4104456"/>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DB9A4B25-87CC-5A5C-555D-FCE2A925681D}"/>
              </a:ext>
            </a:extLst>
          </p:cNvPr>
          <p:cNvSpPr txBox="1"/>
          <p:nvPr/>
        </p:nvSpPr>
        <p:spPr>
          <a:xfrm>
            <a:off x="3015609" y="683404"/>
            <a:ext cx="546945" cy="369332"/>
          </a:xfrm>
          <a:prstGeom prst="rect">
            <a:avLst/>
          </a:prstGeom>
          <a:noFill/>
        </p:spPr>
        <p:txBody>
          <a:bodyPr wrap="none" rtlCol="0">
            <a:spAutoFit/>
          </a:bodyPr>
          <a:lstStyle/>
          <a:p>
            <a:r>
              <a:rPr lang="en-US" dirty="0"/>
              <a:t>-0.4</a:t>
            </a:r>
          </a:p>
        </p:txBody>
      </p:sp>
      <p:cxnSp>
        <p:nvCxnSpPr>
          <p:cNvPr id="26" name="Straight Connector 25">
            <a:extLst>
              <a:ext uri="{FF2B5EF4-FFF2-40B4-BE49-F238E27FC236}">
                <a16:creationId xmlns:a16="http://schemas.microsoft.com/office/drawing/2014/main" id="{2C2B664C-DFB8-82EC-73F1-A7B86777A227}"/>
              </a:ext>
            </a:extLst>
          </p:cNvPr>
          <p:cNvCxnSpPr>
            <a:cxnSpLocks/>
          </p:cNvCxnSpPr>
          <p:nvPr/>
        </p:nvCxnSpPr>
        <p:spPr>
          <a:xfrm flipH="1">
            <a:off x="755576" y="2346980"/>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024B304-FDA0-86BF-3770-021A75462AF5}"/>
              </a:ext>
            </a:extLst>
          </p:cNvPr>
          <p:cNvCxnSpPr>
            <a:cxnSpLocks/>
          </p:cNvCxnSpPr>
          <p:nvPr/>
        </p:nvCxnSpPr>
        <p:spPr>
          <a:xfrm flipH="1">
            <a:off x="1043608" y="2708920"/>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22924387-0665-407F-B258-9B46D34ACF90}"/>
              </a:ext>
            </a:extLst>
          </p:cNvPr>
          <p:cNvCxnSpPr>
            <a:cxnSpLocks/>
          </p:cNvCxnSpPr>
          <p:nvPr/>
        </p:nvCxnSpPr>
        <p:spPr>
          <a:xfrm flipH="1">
            <a:off x="755576" y="3645024"/>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6E51212-BDC7-DFF8-4C4D-E0E51D8173ED}"/>
              </a:ext>
            </a:extLst>
          </p:cNvPr>
          <p:cNvCxnSpPr>
            <a:cxnSpLocks/>
          </p:cNvCxnSpPr>
          <p:nvPr/>
        </p:nvCxnSpPr>
        <p:spPr>
          <a:xfrm flipH="1">
            <a:off x="1043608" y="3284984"/>
            <a:ext cx="7424188"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FABD41B0-6BE9-40BE-1D0E-3D5A9EF94AE3}"/>
              </a:ext>
            </a:extLst>
          </p:cNvPr>
          <p:cNvSpPr txBox="1"/>
          <p:nvPr/>
        </p:nvSpPr>
        <p:spPr>
          <a:xfrm>
            <a:off x="8179335" y="2158619"/>
            <a:ext cx="476412" cy="369332"/>
          </a:xfrm>
          <a:prstGeom prst="rect">
            <a:avLst/>
          </a:prstGeom>
          <a:noFill/>
        </p:spPr>
        <p:txBody>
          <a:bodyPr wrap="none" rtlCol="0">
            <a:spAutoFit/>
          </a:bodyPr>
          <a:lstStyle/>
          <a:p>
            <a:r>
              <a:rPr lang="en-US" dirty="0"/>
              <a:t>0.4</a:t>
            </a:r>
          </a:p>
        </p:txBody>
      </p:sp>
      <p:sp>
        <p:nvSpPr>
          <p:cNvPr id="33" name="TextBox 32">
            <a:extLst>
              <a:ext uri="{FF2B5EF4-FFF2-40B4-BE49-F238E27FC236}">
                <a16:creationId xmlns:a16="http://schemas.microsoft.com/office/drawing/2014/main" id="{CDC7749E-05D9-8E74-F4BC-027FD97A6A40}"/>
              </a:ext>
            </a:extLst>
          </p:cNvPr>
          <p:cNvSpPr txBox="1"/>
          <p:nvPr/>
        </p:nvSpPr>
        <p:spPr>
          <a:xfrm>
            <a:off x="8144068" y="3460358"/>
            <a:ext cx="546945" cy="369332"/>
          </a:xfrm>
          <a:prstGeom prst="rect">
            <a:avLst/>
          </a:prstGeom>
          <a:noFill/>
        </p:spPr>
        <p:txBody>
          <a:bodyPr wrap="none" rtlCol="0">
            <a:spAutoFit/>
          </a:bodyPr>
          <a:lstStyle/>
          <a:p>
            <a:r>
              <a:rPr lang="en-US" dirty="0"/>
              <a:t>-0.4</a:t>
            </a:r>
          </a:p>
        </p:txBody>
      </p:sp>
      <p:sp>
        <p:nvSpPr>
          <p:cNvPr id="34" name="TextBox 33">
            <a:extLst>
              <a:ext uri="{FF2B5EF4-FFF2-40B4-BE49-F238E27FC236}">
                <a16:creationId xmlns:a16="http://schemas.microsoft.com/office/drawing/2014/main" id="{7D01B5A3-46F4-DB21-EB8A-5EF37DC0AC0F}"/>
              </a:ext>
            </a:extLst>
          </p:cNvPr>
          <p:cNvSpPr txBox="1"/>
          <p:nvPr/>
        </p:nvSpPr>
        <p:spPr>
          <a:xfrm>
            <a:off x="8475436" y="3094722"/>
            <a:ext cx="546945" cy="369332"/>
          </a:xfrm>
          <a:prstGeom prst="rect">
            <a:avLst/>
          </a:prstGeom>
          <a:noFill/>
        </p:spPr>
        <p:txBody>
          <a:bodyPr wrap="none" rtlCol="0">
            <a:spAutoFit/>
          </a:bodyPr>
          <a:lstStyle/>
          <a:p>
            <a:r>
              <a:rPr lang="en-US" dirty="0"/>
              <a:t>-0.2</a:t>
            </a:r>
          </a:p>
        </p:txBody>
      </p:sp>
      <p:sp>
        <p:nvSpPr>
          <p:cNvPr id="35" name="TextBox 34">
            <a:extLst>
              <a:ext uri="{FF2B5EF4-FFF2-40B4-BE49-F238E27FC236}">
                <a16:creationId xmlns:a16="http://schemas.microsoft.com/office/drawing/2014/main" id="{07BD0B8C-19A5-DF5F-17B3-760477D0D554}"/>
              </a:ext>
            </a:extLst>
          </p:cNvPr>
          <p:cNvSpPr txBox="1"/>
          <p:nvPr/>
        </p:nvSpPr>
        <p:spPr>
          <a:xfrm>
            <a:off x="8467796" y="2534338"/>
            <a:ext cx="476412" cy="369332"/>
          </a:xfrm>
          <a:prstGeom prst="rect">
            <a:avLst/>
          </a:prstGeom>
          <a:noFill/>
        </p:spPr>
        <p:txBody>
          <a:bodyPr wrap="none" rtlCol="0">
            <a:spAutoFit/>
          </a:bodyPr>
          <a:lstStyle/>
          <a:p>
            <a:r>
              <a:rPr lang="en-US" dirty="0"/>
              <a:t>0.2</a:t>
            </a:r>
          </a:p>
        </p:txBody>
      </p:sp>
    </p:spTree>
    <p:extLst>
      <p:ext uri="{BB962C8B-B14F-4D97-AF65-F5344CB8AC3E}">
        <p14:creationId xmlns:p14="http://schemas.microsoft.com/office/powerpoint/2010/main" val="36176934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24" name="Picture 23">
            <a:extLst>
              <a:ext uri="{FF2B5EF4-FFF2-40B4-BE49-F238E27FC236}">
                <a16:creationId xmlns:a16="http://schemas.microsoft.com/office/drawing/2014/main" id="{E2CCF713-73E9-3D44-8FBB-B5D42AAD68BC}"/>
              </a:ext>
            </a:extLst>
          </p:cNvPr>
          <p:cNvPicPr>
            <a:picLocks noChangeAspect="1"/>
          </p:cNvPicPr>
          <p:nvPr/>
        </p:nvPicPr>
        <p:blipFill rotWithShape="1">
          <a:blip r:embed="rId3"/>
          <a:srcRect b="18471"/>
          <a:stretch/>
        </p:blipFill>
        <p:spPr>
          <a:xfrm>
            <a:off x="611560" y="527537"/>
            <a:ext cx="7734618" cy="3931920"/>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408653"/>
            <a:ext cx="7651020" cy="1107996"/>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72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UFC Calibrator </a:t>
            </a:r>
            <a:r>
              <a:rPr lang="pt-BR" sz="72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0.0.3</a:t>
            </a:r>
            <a:endParaRPr lang="en-US" sz="72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 Kevin Prince, Bruno Wolf, </a:t>
            </a:r>
          </a:p>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Lawrence Borchardt, Anthony Waters</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 2019-2022 Disney Streaming Services Advanced Research, all rights reserved. </a:t>
            </a:r>
          </a:p>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The information contained herein is proprietary to DSSAR and must not be disclosed to non-DSSAR personnel. The recipient of this app, by its retention and use, agrees to protect the information contained herein.</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Logo&#10;&#10;Description automatically generated">
            <a:extLst>
              <a:ext uri="{FF2B5EF4-FFF2-40B4-BE49-F238E27FC236}">
                <a16:creationId xmlns:a16="http://schemas.microsoft.com/office/drawing/2014/main" id="{7BE3E5F6-815F-6F98-886F-125D4C69AEE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23038" y="924044"/>
            <a:ext cx="1183081" cy="977463"/>
          </a:xfrm>
          <a:prstGeom prst="rect">
            <a:avLst/>
          </a:prstGeom>
        </p:spPr>
      </p:pic>
      <p:pic>
        <p:nvPicPr>
          <p:cNvPr id="1026" name="Picture 2" descr="ESPN: Serving sports fans. Anytime. Anywhere.">
            <a:extLst>
              <a:ext uri="{FF2B5EF4-FFF2-40B4-BE49-F238E27FC236}">
                <a16:creationId xmlns:a16="http://schemas.microsoft.com/office/drawing/2014/main" id="{95DB2A79-FEC2-D431-1102-51B550CBEC70}"/>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475573" y="1234030"/>
            <a:ext cx="1745389" cy="357489"/>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59085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FF00"/>
        </a:solidFill>
        <a:effectLst/>
      </p:bgPr>
    </p:bg>
    <p:spTree>
      <p:nvGrpSpPr>
        <p:cNvPr id="1" name=""/>
        <p:cNvGrpSpPr/>
        <p:nvPr/>
      </p:nvGrpSpPr>
      <p:grpSpPr>
        <a:xfrm>
          <a:off x="0" y="0"/>
          <a:ext cx="0" cy="0"/>
          <a:chOff x="0" y="0"/>
          <a:chExt cx="0" cy="0"/>
        </a:xfrm>
      </p:grpSpPr>
      <p:sp>
        <p:nvSpPr>
          <p:cNvPr id="2" name="Retângulo 1"/>
          <p:cNvSpPr/>
          <p:nvPr/>
        </p:nvSpPr>
        <p:spPr>
          <a:xfrm>
            <a:off x="737404" y="768663"/>
            <a:ext cx="7651020" cy="5569384"/>
          </a:xfrm>
          <a:prstGeom prst="rect">
            <a:avLst/>
          </a:prstGeom>
          <a:solidFill>
            <a:schemeClr val="tx1"/>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18" name="Picture 17" descr="A picture containing text, crowd&#10;&#10;Description automatically generated">
            <a:extLst>
              <a:ext uri="{FF2B5EF4-FFF2-40B4-BE49-F238E27FC236}">
                <a16:creationId xmlns:a16="http://schemas.microsoft.com/office/drawing/2014/main" id="{51424F96-00A3-4D44-AB7E-61B1897052E3}"/>
              </a:ext>
            </a:extLst>
          </p:cNvPr>
          <p:cNvPicPr>
            <a:picLocks noChangeAspect="1"/>
          </p:cNvPicPr>
          <p:nvPr/>
        </p:nvPicPr>
        <p:blipFill rotWithShape="1">
          <a:blip r:embed="rId2">
            <a:alphaModFix amt="70000"/>
            <a:extLst>
              <a:ext uri="{28A0092B-C50C-407E-A947-70E740481C1C}">
                <a14:useLocalDpi xmlns:a14="http://schemas.microsoft.com/office/drawing/2010/main" val="0"/>
              </a:ext>
            </a:extLst>
          </a:blip>
          <a:srcRect l="11267" r="11090"/>
          <a:stretch/>
        </p:blipFill>
        <p:spPr>
          <a:xfrm>
            <a:off x="731520" y="768663"/>
            <a:ext cx="7651020" cy="5569384"/>
          </a:xfrm>
          <a:prstGeom prst="rect">
            <a:avLst/>
          </a:prstGeom>
        </p:spPr>
      </p:pic>
      <p:pic>
        <p:nvPicPr>
          <p:cNvPr id="7" name="Picture 6">
            <a:extLst>
              <a:ext uri="{FF2B5EF4-FFF2-40B4-BE49-F238E27FC236}">
                <a16:creationId xmlns:a16="http://schemas.microsoft.com/office/drawing/2014/main" id="{9007FC07-B082-FBAD-38F8-1E1DD90C7D4C}"/>
              </a:ext>
            </a:extLst>
          </p:cNvPr>
          <p:cNvPicPr>
            <a:picLocks noChangeAspect="1"/>
          </p:cNvPicPr>
          <p:nvPr/>
        </p:nvPicPr>
        <p:blipFill>
          <a:blip r:embed="rId3"/>
          <a:stretch>
            <a:fillRect/>
          </a:stretch>
        </p:blipFill>
        <p:spPr>
          <a:xfrm>
            <a:off x="646139" y="217299"/>
            <a:ext cx="7680724" cy="4789201"/>
          </a:xfrm>
          <a:prstGeom prst="rect">
            <a:avLst/>
          </a:prstGeom>
        </p:spPr>
      </p:pic>
      <p:sp>
        <p:nvSpPr>
          <p:cNvPr id="20" name="Rectangle 19">
            <a:extLst>
              <a:ext uri="{FF2B5EF4-FFF2-40B4-BE49-F238E27FC236}">
                <a16:creationId xmlns:a16="http://schemas.microsoft.com/office/drawing/2014/main" id="{A67F2CB0-B876-6E8D-E231-BC25AC8F2A01}"/>
              </a:ext>
            </a:extLst>
          </p:cNvPr>
          <p:cNvSpPr/>
          <p:nvPr/>
        </p:nvSpPr>
        <p:spPr>
          <a:xfrm>
            <a:off x="735938" y="4437112"/>
            <a:ext cx="7651019" cy="1900933"/>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CaixaDeTexto 41"/>
          <p:cNvSpPr txBox="1"/>
          <p:nvPr/>
        </p:nvSpPr>
        <p:spPr>
          <a:xfrm>
            <a:off x="0" y="0"/>
            <a:ext cx="1471878" cy="253916"/>
          </a:xfrm>
          <a:prstGeom prst="rect">
            <a:avLst/>
          </a:prstGeom>
          <a:noFill/>
        </p:spPr>
        <p:txBody>
          <a:bodyPr wrap="none" rtlCol="0">
            <a:spAutoFit/>
          </a:bodyPr>
          <a:lstStyle/>
          <a:p>
            <a:r>
              <a:rPr lang="en-US" sz="1050" dirty="0">
                <a:latin typeface="Aharoni" panose="02010803020104030203" pitchFamily="2" charset="-79"/>
                <a:cs typeface="Aharoni" panose="02010803020104030203" pitchFamily="2" charset="-79"/>
              </a:rPr>
              <a:t>APPLICATION LOGO</a:t>
            </a:r>
          </a:p>
        </p:txBody>
      </p:sp>
      <p:sp>
        <p:nvSpPr>
          <p:cNvPr id="5" name="CaixaDeTexto 4"/>
          <p:cNvSpPr txBox="1"/>
          <p:nvPr/>
        </p:nvSpPr>
        <p:spPr>
          <a:xfrm>
            <a:off x="753600" y="4470209"/>
            <a:ext cx="7651020" cy="98488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tIns="0" bIns="0" rtlCol="0" anchor="ctr">
            <a:spAutoFit/>
          </a:bodyPr>
          <a:lstStyle/>
          <a:p>
            <a:pPr algn="ctr"/>
            <a:r>
              <a:rPr lang="pt-BR" sz="6400" b="1" dirty="0">
                <a:solidFill>
                  <a:schemeClr val="bg1"/>
                </a:solidFill>
                <a:latin typeface="Blue Highway D Type" panose="00000400000000000000" pitchFamily="2" charset="0"/>
                <a:ea typeface="Verdana" panose="020B0604030504040204" pitchFamily="34" charset="0"/>
                <a:cs typeface="Times New Roman" panose="02020603050405020304" pitchFamily="18" charset="0"/>
              </a:rPr>
              <a:t>OFFICE Calibrator </a:t>
            </a:r>
            <a:r>
              <a:rPr lang="pt-BR"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rPr>
              <a:t>0.0.0</a:t>
            </a:r>
            <a:endParaRPr lang="en-US" sz="6400" b="1" dirty="0">
              <a:solidFill>
                <a:srgbClr val="FFFF00"/>
              </a:solidFill>
              <a:latin typeface="Blue Highway D Type" panose="00000400000000000000" pitchFamily="2" charset="0"/>
              <a:ea typeface="Verdana" panose="020B0604030504040204" pitchFamily="34" charset="0"/>
              <a:cs typeface="Times New Roman" panose="02020603050405020304" pitchFamily="18" charset="0"/>
            </a:endParaRPr>
          </a:p>
        </p:txBody>
      </p:sp>
      <p:sp>
        <p:nvSpPr>
          <p:cNvPr id="6" name="Retângulo 5"/>
          <p:cNvSpPr/>
          <p:nvPr/>
        </p:nvSpPr>
        <p:spPr>
          <a:xfrm>
            <a:off x="1374115" y="5382370"/>
            <a:ext cx="6395769" cy="27699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spAutoFit/>
          </a:bodyPr>
          <a:lstStyle/>
          <a:p>
            <a:pPr algn="ctr"/>
            <a:r>
              <a:rPr lang="en-US" sz="1200" dirty="0">
                <a:solidFill>
                  <a:schemeClr val="bg1"/>
                </a:solidFill>
                <a:latin typeface="Verdana" panose="020B0604030504040204" pitchFamily="34" charset="0"/>
                <a:ea typeface="Verdana" panose="020B0604030504040204" pitchFamily="34" charset="0"/>
                <a:cs typeface="Verdana" panose="020B0604030504040204" pitchFamily="34" charset="0"/>
              </a:rPr>
              <a:t>Carlos A. Dietrich</a:t>
            </a:r>
          </a:p>
        </p:txBody>
      </p:sp>
      <p:sp>
        <p:nvSpPr>
          <p:cNvPr id="49" name="Retângulo 48"/>
          <p:cNvSpPr/>
          <p:nvPr/>
        </p:nvSpPr>
        <p:spPr>
          <a:xfrm>
            <a:off x="768413" y="5838572"/>
            <a:ext cx="76210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lIns="54000" anchor="b">
            <a:spAutoFit/>
          </a:bodyPr>
          <a:lstStyle/>
          <a:p>
            <a:pPr algn="ctr"/>
            <a:r>
              <a:rPr lang="en-US" sz="800" dirty="0">
                <a:solidFill>
                  <a:schemeClr val="bg1"/>
                </a:solidFill>
                <a:latin typeface="Verdana" panose="020B0604030504040204" pitchFamily="34" charset="0"/>
                <a:ea typeface="Verdana" panose="020B0604030504040204" pitchFamily="34" charset="0"/>
                <a:cs typeface="Verdana" panose="020B0604030504040204" pitchFamily="34" charset="0"/>
              </a:rPr>
              <a:t>This app is supplied "AS IS".  The Contributing Authors disclaim all warranties, expressed or implied, including, without limitation, the warranties of merchantability and of fitness for any purpose. The Contributing Authors assume no liability for direct, indirect, incidental, special, exemplary, or consequential damages, which may result from the use of the this app, even if advised of the possibility of such damage.</a:t>
            </a:r>
          </a:p>
        </p:txBody>
      </p:sp>
      <p:cxnSp>
        <p:nvCxnSpPr>
          <p:cNvPr id="11" name="Conector reto 10"/>
          <p:cNvCxnSpPr>
            <a:cxnSpLocks/>
          </p:cNvCxnSpPr>
          <p:nvPr/>
        </p:nvCxnSpPr>
        <p:spPr>
          <a:xfrm>
            <a:off x="731520" y="4437112"/>
            <a:ext cx="7651020"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Rectangle 2">
            <a:extLst>
              <a:ext uri="{FF2B5EF4-FFF2-40B4-BE49-F238E27FC236}">
                <a16:creationId xmlns:a16="http://schemas.microsoft.com/office/drawing/2014/main" id="{18E38931-ED73-6A06-BFE6-5064AD245B9F}"/>
              </a:ext>
            </a:extLst>
          </p:cNvPr>
          <p:cNvSpPr/>
          <p:nvPr/>
        </p:nvSpPr>
        <p:spPr>
          <a:xfrm>
            <a:off x="731520" y="768661"/>
            <a:ext cx="7651020" cy="5569383"/>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8CA1B132-8E96-D961-05EC-FF899B8E5B8B}"/>
              </a:ext>
            </a:extLst>
          </p:cNvPr>
          <p:cNvPicPr>
            <a:picLocks noChangeAspect="1"/>
          </p:cNvPicPr>
          <p:nvPr/>
        </p:nvPicPr>
        <p:blipFill>
          <a:blip r:embed="rId4"/>
          <a:stretch>
            <a:fillRect/>
          </a:stretch>
        </p:blipFill>
        <p:spPr>
          <a:xfrm>
            <a:off x="877357" y="908654"/>
            <a:ext cx="962201" cy="1008239"/>
          </a:xfrm>
          <a:prstGeom prst="rect">
            <a:avLst/>
          </a:prstGeom>
        </p:spPr>
      </p:pic>
      <p:pic>
        <p:nvPicPr>
          <p:cNvPr id="12" name="Picture 11">
            <a:extLst>
              <a:ext uri="{FF2B5EF4-FFF2-40B4-BE49-F238E27FC236}">
                <a16:creationId xmlns:a16="http://schemas.microsoft.com/office/drawing/2014/main" id="{C51BFD83-6DDB-5C97-A58A-207289892D5B}"/>
              </a:ext>
            </a:extLst>
          </p:cNvPr>
          <p:cNvPicPr>
            <a:picLocks noChangeAspect="1"/>
          </p:cNvPicPr>
          <p:nvPr/>
        </p:nvPicPr>
        <p:blipFill>
          <a:blip r:embed="rId5">
            <a:extLst>
              <a:ext uri="{BEBA8EAE-BF5A-486C-A8C5-ECC9F3942E4B}">
                <a14:imgProps xmlns:a14="http://schemas.microsoft.com/office/drawing/2010/main">
                  <a14:imgLayer r:embed="rId6">
                    <a14:imgEffect>
                      <a14:brightnessContrast contrast="57000"/>
                    </a14:imgEffect>
                  </a14:imgLayer>
                </a14:imgProps>
              </a:ext>
            </a:extLst>
          </a:blip>
          <a:stretch>
            <a:fillRect/>
          </a:stretch>
        </p:blipFill>
        <p:spPr>
          <a:xfrm>
            <a:off x="7341512" y="986921"/>
            <a:ext cx="856744" cy="851704"/>
          </a:xfrm>
          <a:prstGeom prst="rect">
            <a:avLst/>
          </a:prstGeom>
        </p:spPr>
      </p:pic>
    </p:spTree>
    <p:extLst>
      <p:ext uri="{BB962C8B-B14F-4D97-AF65-F5344CB8AC3E}">
        <p14:creationId xmlns:p14="http://schemas.microsoft.com/office/powerpoint/2010/main" val="36655825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DD74886-1E1E-A677-D057-030ED1056FC5}"/>
              </a:ext>
            </a:extLst>
          </p:cNvPr>
          <p:cNvSpPr/>
          <p:nvPr/>
        </p:nvSpPr>
        <p:spPr>
          <a:xfrm>
            <a:off x="-2" y="1340767"/>
            <a:ext cx="9144001" cy="424847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picture containing text, crowd&#10;&#10;Description automatically generated">
            <a:extLst>
              <a:ext uri="{FF2B5EF4-FFF2-40B4-BE49-F238E27FC236}">
                <a16:creationId xmlns:a16="http://schemas.microsoft.com/office/drawing/2014/main" id="{D91D8058-83C9-FAE3-1147-2BE933834659}"/>
              </a:ext>
            </a:extLst>
          </p:cNvPr>
          <p:cNvPicPr>
            <a:picLocks noChangeAspect="1"/>
          </p:cNvPicPr>
          <p:nvPr/>
        </p:nvPicPr>
        <p:blipFill rotWithShape="1">
          <a:blip r:embed="rId2">
            <a:alphaModFix amt="40000"/>
            <a:extLst>
              <a:ext uri="{28A0092B-C50C-407E-A947-70E740481C1C}">
                <a14:useLocalDpi xmlns:a14="http://schemas.microsoft.com/office/drawing/2010/main" val="0"/>
              </a:ext>
            </a:extLst>
          </a:blip>
          <a:srcRect t="1064" b="17223"/>
          <a:stretch/>
        </p:blipFill>
        <p:spPr>
          <a:xfrm>
            <a:off x="-1" y="1340768"/>
            <a:ext cx="9144000" cy="4248472"/>
          </a:xfrm>
          <a:prstGeom prst="rect">
            <a:avLst/>
          </a:prstGeom>
        </p:spPr>
      </p:pic>
      <p:sp>
        <p:nvSpPr>
          <p:cNvPr id="2" name="CaixaDeTexto 1"/>
          <p:cNvSpPr txBox="1"/>
          <p:nvPr/>
        </p:nvSpPr>
        <p:spPr>
          <a:xfrm>
            <a:off x="2172946" y="3244333"/>
            <a:ext cx="4798108" cy="646331"/>
          </a:xfrm>
          <a:prstGeom prst="rect">
            <a:avLst/>
          </a:prstGeom>
          <a:noFill/>
        </p:spPr>
        <p:txBody>
          <a:bodyPr wrap="none" rtlCol="0">
            <a:spAutoFit/>
          </a:bodyPr>
          <a:lstStyle/>
          <a:p>
            <a:pPr algn="ctr"/>
            <a:r>
              <a:rPr lang="en-US" dirty="0">
                <a:solidFill>
                  <a:schemeClr val="bg1"/>
                </a:solidFill>
                <a:latin typeface="Aharoni" panose="02010803020104030203" pitchFamily="2" charset="-79"/>
                <a:cs typeface="Aharoni" panose="02010803020104030203" pitchFamily="2" charset="-79"/>
              </a:rPr>
              <a:t>WELCOME TO THE UFC CALIBRATION TOOL</a:t>
            </a:r>
          </a:p>
          <a:p>
            <a:pPr algn="ctr"/>
            <a:r>
              <a:rPr lang="en-US" dirty="0">
                <a:solidFill>
                  <a:schemeClr val="bg1"/>
                </a:solidFill>
                <a:latin typeface="Aharoni" panose="02010803020104030203" pitchFamily="2" charset="-79"/>
                <a:cs typeface="Aharoni" panose="02010803020104030203" pitchFamily="2" charset="-79"/>
              </a:rPr>
              <a:t>(this tool is a work in progress)</a:t>
            </a:r>
          </a:p>
        </p:txBody>
      </p:sp>
      <p:sp>
        <p:nvSpPr>
          <p:cNvPr id="6" name="Retângulo 5"/>
          <p:cNvSpPr/>
          <p:nvPr/>
        </p:nvSpPr>
        <p:spPr>
          <a:xfrm>
            <a:off x="-108519" y="-1"/>
            <a:ext cx="9361040" cy="1340769"/>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2" name="Retângulo 11"/>
          <p:cNvSpPr/>
          <p:nvPr/>
        </p:nvSpPr>
        <p:spPr>
          <a:xfrm>
            <a:off x="-107944" y="5589241"/>
            <a:ext cx="9361040" cy="1368152"/>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Retângulo 12"/>
          <p:cNvSpPr/>
          <p:nvPr/>
        </p:nvSpPr>
        <p:spPr>
          <a:xfrm>
            <a:off x="1513" y="0"/>
            <a:ext cx="2719014" cy="523220"/>
          </a:xfrm>
          <a:prstGeom prst="rect">
            <a:avLst/>
          </a:prstGeom>
        </p:spPr>
        <p:txBody>
          <a:bodyPr wrap="none">
            <a:spAutoFit/>
          </a:bodyPr>
          <a:lstStyle/>
          <a:p>
            <a:pPr lvl="0"/>
            <a:r>
              <a:rPr lang="en-US" sz="2800" dirty="0">
                <a:solidFill>
                  <a:prstClr val="black"/>
                </a:solidFill>
                <a:latin typeface="Aharoni" panose="02010803020104030203" pitchFamily="2" charset="-79"/>
                <a:cs typeface="Aharoni" panose="02010803020104030203" pitchFamily="2" charset="-79"/>
              </a:rPr>
              <a:t>BACKGROUND</a:t>
            </a:r>
          </a:p>
        </p:txBody>
      </p:sp>
    </p:spTree>
    <p:extLst>
      <p:ext uri="{BB962C8B-B14F-4D97-AF65-F5344CB8AC3E}">
        <p14:creationId xmlns:p14="http://schemas.microsoft.com/office/powerpoint/2010/main" val="1846474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F50A6CB6-E253-6C2F-F397-912E3825D535}"/>
              </a:ext>
            </a:extLst>
          </p:cNvPr>
          <p:cNvPicPr>
            <a:picLocks noChangeAspect="1"/>
          </p:cNvPicPr>
          <p:nvPr/>
        </p:nvPicPr>
        <p:blipFill>
          <a:blip r:embed="rId2"/>
          <a:stretch>
            <a:fillRect/>
          </a:stretch>
        </p:blipFill>
        <p:spPr>
          <a:xfrm>
            <a:off x="498661" y="1221090"/>
            <a:ext cx="8164684" cy="4380013"/>
          </a:xfrm>
          <a:prstGeom prst="rect">
            <a:avLst/>
          </a:prstGeom>
        </p:spPr>
      </p:pic>
      <p:sp>
        <p:nvSpPr>
          <p:cNvPr id="3" name="Retângulo 2"/>
          <p:cNvSpPr/>
          <p:nvPr/>
        </p:nvSpPr>
        <p:spPr>
          <a:xfrm>
            <a:off x="1801416" y="1938757"/>
            <a:ext cx="2338535" cy="62941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available calibration markers. The dot in the icon indicates the target position of the marker.</a:t>
            </a:r>
            <a:endParaRPr lang="en-US" sz="1200" b="1" dirty="0">
              <a:solidFill>
                <a:srgbClr val="C00000"/>
              </a:solidFill>
              <a:latin typeface="Cabin" panose="020B0803050202020004" pitchFamily="34" charset="0"/>
            </a:endParaRPr>
          </a:p>
        </p:txBody>
      </p:sp>
      <p:sp>
        <p:nvSpPr>
          <p:cNvPr id="4" name="Fluxograma: Mesclar 3"/>
          <p:cNvSpPr/>
          <p:nvPr/>
        </p:nvSpPr>
        <p:spPr>
          <a:xfrm rot="5400000">
            <a:off x="1402067" y="2199459"/>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tângulo 4"/>
          <p:cNvSpPr/>
          <p:nvPr/>
        </p:nvSpPr>
        <p:spPr>
          <a:xfrm>
            <a:off x="527057" y="3588147"/>
            <a:ext cx="1931105" cy="992982"/>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en-US" sz="1200" b="1" dirty="0">
                <a:solidFill>
                  <a:srgbClr val="C00000"/>
                </a:solidFill>
                <a:latin typeface="Cabin" panose="020B0803050202020004" pitchFamily="34" charset="0"/>
              </a:rPr>
              <a:t>The two calibration modes, one to align the layout to the scene (“initialization”), one to refine the alignment (“refinement”)</a:t>
            </a:r>
          </a:p>
        </p:txBody>
      </p:sp>
      <p:sp>
        <p:nvSpPr>
          <p:cNvPr id="6" name="Fluxograma: Mesclar 5"/>
          <p:cNvSpPr/>
          <p:nvPr/>
        </p:nvSpPr>
        <p:spPr>
          <a:xfrm rot="10800000">
            <a:off x="1240582" y="3418191"/>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tângulo 9"/>
          <p:cNvSpPr/>
          <p:nvPr/>
        </p:nvSpPr>
        <p:spPr>
          <a:xfrm>
            <a:off x="1799692" y="2684581"/>
            <a:ext cx="2501832" cy="71188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trigger of the calibration improvement. Click as many times as you want, and every time a marker position is changed</a:t>
            </a:r>
            <a:endParaRPr lang="en-US" sz="1200" b="1" dirty="0">
              <a:solidFill>
                <a:schemeClr val="tx2">
                  <a:lumMod val="60000"/>
                  <a:lumOff val="40000"/>
                </a:schemeClr>
              </a:solidFill>
              <a:latin typeface="Cabin" panose="020B0803050202020004" pitchFamily="34" charset="0"/>
            </a:endParaRPr>
          </a:p>
        </p:txBody>
      </p:sp>
      <p:sp>
        <p:nvSpPr>
          <p:cNvPr id="11" name="Fluxograma: Mesclar 10"/>
          <p:cNvSpPr/>
          <p:nvPr/>
        </p:nvSpPr>
        <p:spPr>
          <a:xfrm rot="5400000">
            <a:off x="1421650" y="29865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tângulo 11"/>
          <p:cNvSpPr/>
          <p:nvPr/>
        </p:nvSpPr>
        <p:spPr>
          <a:xfrm>
            <a:off x="3622756" y="4259012"/>
            <a:ext cx="3063083" cy="779040"/>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octagon layout, which should be aligned to the scene (especially the inner octagon), and with the main logo oriented in the same way as the actual logo in the arena.</a:t>
            </a:r>
            <a:endParaRPr lang="en-US" sz="1200" b="1" dirty="0">
              <a:solidFill>
                <a:schemeClr val="tx2">
                  <a:lumMod val="60000"/>
                  <a:lumOff val="40000"/>
                </a:schemeClr>
              </a:solidFill>
              <a:latin typeface="Cabin" panose="020B0803050202020004" pitchFamily="34" charset="0"/>
            </a:endParaRPr>
          </a:p>
        </p:txBody>
      </p:sp>
      <p:sp>
        <p:nvSpPr>
          <p:cNvPr id="13" name="Fluxograma: Mesclar 12"/>
          <p:cNvSpPr/>
          <p:nvPr/>
        </p:nvSpPr>
        <p:spPr>
          <a:xfrm rot="5400000">
            <a:off x="3214441" y="4594526"/>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tângulo de cantos arredondados 17"/>
          <p:cNvSpPr/>
          <p:nvPr/>
        </p:nvSpPr>
        <p:spPr>
          <a:xfrm>
            <a:off x="2636349" y="5805264"/>
            <a:ext cx="3840602" cy="261610"/>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sz="1200" dirty="0">
                <a:solidFill>
                  <a:prstClr val="black"/>
                </a:solidFill>
                <a:latin typeface="Cabin" panose="020B0803050202020004" pitchFamily="34" charset="0"/>
              </a:rPr>
              <a:t>(you can close this window by clicking on top of it)</a:t>
            </a:r>
          </a:p>
        </p:txBody>
      </p:sp>
      <p:sp>
        <p:nvSpPr>
          <p:cNvPr id="16" name="Retângulo de cantos arredondados 15"/>
          <p:cNvSpPr/>
          <p:nvPr/>
        </p:nvSpPr>
        <p:spPr>
          <a:xfrm>
            <a:off x="3188498" y="548680"/>
            <a:ext cx="2736304" cy="369332"/>
          </a:xfrm>
          <a:prstGeom prst="roundRect">
            <a:avLst/>
          </a:prstGeom>
          <a:solidFill>
            <a:srgbClr val="FFFF00"/>
          </a:solidFill>
          <a:ln w="3175">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en-US" b="1" dirty="0">
                <a:solidFill>
                  <a:prstClr val="black"/>
                </a:solidFill>
                <a:latin typeface="Cabin" panose="020B0803050202020004" pitchFamily="34" charset="0"/>
              </a:rPr>
              <a:t>UFC Calibrator cheat sheet</a:t>
            </a:r>
          </a:p>
        </p:txBody>
      </p:sp>
      <p:sp>
        <p:nvSpPr>
          <p:cNvPr id="2" name="Retângulo 2">
            <a:extLst>
              <a:ext uri="{FF2B5EF4-FFF2-40B4-BE49-F238E27FC236}">
                <a16:creationId xmlns:a16="http://schemas.microsoft.com/office/drawing/2014/main" id="{3043F959-1FDE-A151-1654-1BADED1C9B80}"/>
              </a:ext>
            </a:extLst>
          </p:cNvPr>
          <p:cNvSpPr/>
          <p:nvPr/>
        </p:nvSpPr>
        <p:spPr>
          <a:xfrm>
            <a:off x="3347864" y="1315893"/>
            <a:ext cx="2338535" cy="504056"/>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overall calibraiton quality, which should be above 90%.</a:t>
            </a:r>
            <a:endParaRPr lang="en-US" sz="1200" b="1" dirty="0">
              <a:solidFill>
                <a:srgbClr val="C00000"/>
              </a:solidFill>
              <a:latin typeface="Cabin" panose="020B0803050202020004" pitchFamily="34" charset="0"/>
            </a:endParaRPr>
          </a:p>
        </p:txBody>
      </p:sp>
      <p:sp>
        <p:nvSpPr>
          <p:cNvPr id="7" name="Fluxograma: Mesclar 3">
            <a:extLst>
              <a:ext uri="{FF2B5EF4-FFF2-40B4-BE49-F238E27FC236}">
                <a16:creationId xmlns:a16="http://schemas.microsoft.com/office/drawing/2014/main" id="{58F79ABA-3513-2A27-235E-F605AC976672}"/>
              </a:ext>
            </a:extLst>
          </p:cNvPr>
          <p:cNvSpPr/>
          <p:nvPr/>
        </p:nvSpPr>
        <p:spPr>
          <a:xfrm rot="5400000">
            <a:off x="2948515" y="1513915"/>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tângulo 9">
            <a:extLst>
              <a:ext uri="{FF2B5EF4-FFF2-40B4-BE49-F238E27FC236}">
                <a16:creationId xmlns:a16="http://schemas.microsoft.com/office/drawing/2014/main" id="{E9FF015D-C100-9102-FA81-D60BB53301AE}"/>
              </a:ext>
            </a:extLst>
          </p:cNvPr>
          <p:cNvSpPr/>
          <p:nvPr/>
        </p:nvSpPr>
        <p:spPr>
          <a:xfrm>
            <a:off x="5141507" y="2072451"/>
            <a:ext cx="3138905" cy="1220098"/>
          </a:xfrm>
          <a:prstGeom prst="rect">
            <a:avLst/>
          </a:prstGeom>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2"/>
          </a:lnRef>
          <a:fillRef idx="1">
            <a:schemeClr val="lt1"/>
          </a:fillRef>
          <a:effectRef idx="0">
            <a:schemeClr val="accent2"/>
          </a:effectRef>
          <a:fontRef idx="minor">
            <a:schemeClr val="dk1"/>
          </a:fontRef>
        </p:style>
        <p:txBody>
          <a:bodyPr rtlCol="0" anchor="ctr"/>
          <a:lstStyle/>
          <a:p>
            <a:pPr algn="ctr"/>
            <a:r>
              <a:rPr lang="pt-BR" sz="1200" b="1" dirty="0">
                <a:solidFill>
                  <a:srgbClr val="C00000"/>
                </a:solidFill>
                <a:latin typeface="Cabin" panose="020B0803050202020004" pitchFamily="34" charset="0"/>
              </a:rPr>
              <a:t>The calibration makers. Notice the quality (top) and the name (bottom) of each marker, which should be above 90% and correspond to the actual octagon, respectively. The red bar is a suggestion on how the marker may be moved to improve the (current) calibration.</a:t>
            </a:r>
            <a:endParaRPr lang="en-US" sz="1200" b="1" dirty="0">
              <a:solidFill>
                <a:schemeClr val="tx2">
                  <a:lumMod val="60000"/>
                  <a:lumOff val="40000"/>
                </a:schemeClr>
              </a:solidFill>
              <a:latin typeface="Cabin" panose="020B0803050202020004" pitchFamily="34" charset="0"/>
            </a:endParaRPr>
          </a:p>
        </p:txBody>
      </p:sp>
      <p:sp>
        <p:nvSpPr>
          <p:cNvPr id="17" name="Fluxograma: Mesclar 10">
            <a:extLst>
              <a:ext uri="{FF2B5EF4-FFF2-40B4-BE49-F238E27FC236}">
                <a16:creationId xmlns:a16="http://schemas.microsoft.com/office/drawing/2014/main" id="{9A8FDAF7-BDDA-8068-3B22-5C8147961DD9}"/>
              </a:ext>
            </a:extLst>
          </p:cNvPr>
          <p:cNvSpPr/>
          <p:nvPr/>
        </p:nvSpPr>
        <p:spPr>
          <a:xfrm rot="5400000">
            <a:off x="4763466" y="2628494"/>
            <a:ext cx="504056" cy="108012"/>
          </a:xfrm>
          <a:prstGeom prst="flowChartMerge">
            <a:avLst/>
          </a:prstGeom>
          <a:solidFill>
            <a:srgbClr val="C00000"/>
          </a:solidFill>
          <a:ln>
            <a:noFill/>
          </a:ln>
          <a:effectLst>
            <a:outerShdw blurRad="190500" dist="228600" dir="2700000" algn="ctr">
              <a:srgbClr val="000000">
                <a:alpha val="30000"/>
              </a:srgbClr>
            </a:outerShdw>
          </a:effectLst>
          <a:scene3d>
            <a:camera prst="orthographicFront">
              <a:rot lat="0" lon="0" rev="0"/>
            </a:camera>
            <a:lightRig rig="glow" dir="t">
              <a:rot lat="0" lon="0" rev="4800000"/>
            </a:lightRig>
          </a:scene3d>
          <a:sp3d prstMaterial="matte">
            <a:bevelT w="127000" h="63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07334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B8EC03-122F-DB50-4288-E24D7016D367}"/>
              </a:ext>
            </a:extLst>
          </p:cNvPr>
          <p:cNvPicPr>
            <a:picLocks noChangeAspect="1"/>
          </p:cNvPicPr>
          <p:nvPr/>
        </p:nvPicPr>
        <p:blipFill>
          <a:blip r:embed="rId2"/>
          <a:stretch>
            <a:fillRect/>
          </a:stretch>
        </p:blipFill>
        <p:spPr>
          <a:xfrm>
            <a:off x="0" y="976312"/>
            <a:ext cx="9144000" cy="4905375"/>
          </a:xfrm>
          <a:prstGeom prst="rect">
            <a:avLst/>
          </a:prstGeom>
        </p:spPr>
      </p:pic>
      <p:pic>
        <p:nvPicPr>
          <p:cNvPr id="5" name="Picture 4" descr="A picture containing text, book&#10;&#10;Description automatically generated">
            <a:extLst>
              <a:ext uri="{FF2B5EF4-FFF2-40B4-BE49-F238E27FC236}">
                <a16:creationId xmlns:a16="http://schemas.microsoft.com/office/drawing/2014/main" id="{5C66FF3B-208C-641F-0E71-1688F76B3DA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4052" y="2082213"/>
            <a:ext cx="3635896" cy="2693572"/>
          </a:xfrm>
          <a:prstGeom prst="rect">
            <a:avLst/>
          </a:prstGeom>
        </p:spPr>
      </p:pic>
    </p:spTree>
    <p:extLst>
      <p:ext uri="{BB962C8B-B14F-4D97-AF65-F5344CB8AC3E}">
        <p14:creationId xmlns:p14="http://schemas.microsoft.com/office/powerpoint/2010/main" val="925424427"/>
      </p:ext>
    </p:extLst>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14029</TotalTime>
  <Words>368</Words>
  <Application>Microsoft Office PowerPoint</Application>
  <PresentationFormat>On-screen Show (4:3)</PresentationFormat>
  <Paragraphs>29</Paragraphs>
  <Slides>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vt:i4>
      </vt:variant>
    </vt:vector>
  </HeadingPairs>
  <TitlesOfParts>
    <vt:vector size="14" baseType="lpstr">
      <vt:lpstr>Aharoni</vt:lpstr>
      <vt:lpstr>Arial</vt:lpstr>
      <vt:lpstr>Blue Highway D Type</vt:lpstr>
      <vt:lpstr>Cabin</vt:lpstr>
      <vt:lpstr>Calibri</vt:lpstr>
      <vt:lpstr>Verdana</vt:lpstr>
      <vt:lpstr>Tema do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Apresentação do PowerPoint</dc:title>
  <dc:creator>Dietrich</dc:creator>
  <cp:lastModifiedBy>Carlos Dietrich</cp:lastModifiedBy>
  <cp:revision>64</cp:revision>
  <dcterms:created xsi:type="dcterms:W3CDTF">2015-11-17T21:27:19Z</dcterms:created>
  <dcterms:modified xsi:type="dcterms:W3CDTF">2022-12-15T18:54:37Z</dcterms:modified>
</cp:coreProperties>
</file>